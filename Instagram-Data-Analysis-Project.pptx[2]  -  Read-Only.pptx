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rchive" panose="020B0604020202020204" charset="0"/>
      <p:regular r:id="rId11"/>
    </p:embeddedFont>
    <p:embeddedFont>
      <p:font typeface="Canva Sans Bold" panose="020B0604020202020204" charset="0"/>
      <p:regular r:id="rId12"/>
    </p:embeddedFont>
    <p:embeddedFont>
      <p:font typeface="Century Gothic Paneuropean" panose="020B0604020202020204" charset="0"/>
      <p:regular r:id="rId13"/>
    </p:embeddedFont>
    <p:embeddedFont>
      <p:font typeface="Century Gothic Paneuropean Bold" panose="020B0604020202020204" charset="0"/>
      <p:regular r:id="rId14"/>
    </p:embeddedFont>
    <p:embeddedFont>
      <p:font typeface="Century Gothic Paneuropean Bold Italics" panose="020B0604020202020204" charset="0"/>
      <p:regular r:id="rId15"/>
    </p:embeddedFont>
    <p:embeddedFont>
      <p:font typeface="DM Sans Bold" panose="020B0604020202020204" charset="0"/>
      <p:regular r:id="rId16"/>
    </p:embeddedFont>
    <p:embeddedFont>
      <p:font typeface="Inter" panose="020B0604020202020204" charset="0"/>
      <p:regular r:id="rId17"/>
    </p:embeddedFont>
    <p:embeddedFont>
      <p:font typeface="Inter Bold" panose="020B0604020202020204" charset="0"/>
      <p:regular r:id="rId18"/>
    </p:embeddedFont>
    <p:embeddedFont>
      <p:font typeface="Inter Medium"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2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hyperlink" Target="https://gamma.app/?utm_source=made-with-gamma" TargetMode="External"/><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5.svg"/></Relationships>
</file>

<file path=ppt/slides/_rels/slide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66287" y="1419484"/>
            <a:ext cx="13018493" cy="3159926"/>
          </a:xfrm>
          <a:prstGeom prst="rect">
            <a:avLst/>
          </a:prstGeom>
        </p:spPr>
        <p:txBody>
          <a:bodyPr lIns="0" tIns="0" rIns="0" bIns="0" rtlCol="0" anchor="t">
            <a:spAutoFit/>
          </a:bodyPr>
          <a:lstStyle/>
          <a:p>
            <a:pPr algn="ctr">
              <a:lnSpc>
                <a:spcPts val="12730"/>
              </a:lnSpc>
            </a:pPr>
            <a:r>
              <a:rPr lang="en-US" sz="9093" b="1" i="1">
                <a:solidFill>
                  <a:srgbClr val="000000"/>
                </a:solidFill>
                <a:latin typeface="Century Gothic Paneuropean Bold Italics"/>
                <a:ea typeface="Century Gothic Paneuropean Bold Italics"/>
                <a:cs typeface="Century Gothic Paneuropean Bold Italics"/>
                <a:sym typeface="Century Gothic Paneuropean Bold Italics"/>
              </a:rPr>
              <a:t>INSTAGRAM USER ANALYSIS </a:t>
            </a:r>
          </a:p>
        </p:txBody>
      </p:sp>
      <p:sp>
        <p:nvSpPr>
          <p:cNvPr id="3" name="TextBox 3"/>
          <p:cNvSpPr txBox="1"/>
          <p:nvPr/>
        </p:nvSpPr>
        <p:spPr>
          <a:xfrm>
            <a:off x="3591570" y="4550388"/>
            <a:ext cx="1703128" cy="1062398"/>
          </a:xfrm>
          <a:prstGeom prst="rect">
            <a:avLst/>
          </a:prstGeom>
        </p:spPr>
        <p:txBody>
          <a:bodyPr lIns="0" tIns="0" rIns="0" bIns="0" rtlCol="0" anchor="t">
            <a:spAutoFit/>
          </a:bodyPr>
          <a:lstStyle/>
          <a:p>
            <a:pPr algn="ctr">
              <a:lnSpc>
                <a:spcPts val="8642"/>
              </a:lnSpc>
            </a:pPr>
            <a:r>
              <a:rPr lang="en-US" sz="6173" b="1">
                <a:solidFill>
                  <a:srgbClr val="000000"/>
                </a:solidFill>
                <a:latin typeface="Century Gothic Paneuropean Bold"/>
                <a:ea typeface="Century Gothic Paneuropean Bold"/>
                <a:cs typeface="Century Gothic Paneuropean Bold"/>
                <a:sym typeface="Century Gothic Paneuropean Bold"/>
              </a:rPr>
              <a:t>BY</a:t>
            </a:r>
            <a:r>
              <a:rPr lang="en-US" sz="6173">
                <a:solidFill>
                  <a:srgbClr val="000000"/>
                </a:solidFill>
                <a:latin typeface="Century Gothic Paneuropean"/>
                <a:ea typeface="Century Gothic Paneuropean"/>
                <a:cs typeface="Century Gothic Paneuropean"/>
                <a:sym typeface="Century Gothic Paneuropean"/>
              </a:rPr>
              <a:t> :-</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544050"/>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4668150" y="5612787"/>
            <a:ext cx="13018492" cy="1811020"/>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PRATHAM SINGH(202410101150056)</a:t>
            </a:r>
          </a:p>
          <a:p>
            <a:pPr algn="ctr">
              <a:lnSpc>
                <a:spcPts val="7279"/>
              </a:lnSpc>
            </a:pPr>
            <a:r>
              <a:rPr lang="en-US" sz="5199" b="1" dirty="0">
                <a:solidFill>
                  <a:srgbClr val="000000"/>
                </a:solidFill>
                <a:latin typeface="Canva Sans Bold"/>
                <a:ea typeface="Canva Sans Bold"/>
                <a:cs typeface="Canva Sans Bold"/>
                <a:sym typeface="Canva Sans Bold"/>
              </a:rPr>
              <a:t>KRISHNA VERMA (202410101150014)</a:t>
            </a:r>
          </a:p>
        </p:txBody>
      </p:sp>
      <p:sp>
        <p:nvSpPr>
          <p:cNvPr id="16" name="TextBox 16"/>
          <p:cNvSpPr txBox="1"/>
          <p:nvPr/>
        </p:nvSpPr>
        <p:spPr>
          <a:xfrm>
            <a:off x="3366553" y="7589058"/>
            <a:ext cx="1928145" cy="1062398"/>
          </a:xfrm>
          <a:prstGeom prst="rect">
            <a:avLst/>
          </a:prstGeom>
        </p:spPr>
        <p:txBody>
          <a:bodyPr lIns="0" tIns="0" rIns="0" bIns="0" rtlCol="0" anchor="t">
            <a:spAutoFit/>
          </a:bodyPr>
          <a:lstStyle/>
          <a:p>
            <a:pPr algn="ctr">
              <a:lnSpc>
                <a:spcPts val="8642"/>
              </a:lnSpc>
            </a:pPr>
            <a:r>
              <a:rPr lang="en-US" sz="6173" b="1">
                <a:solidFill>
                  <a:srgbClr val="000000"/>
                </a:solidFill>
                <a:latin typeface="Century Gothic Paneuropean Bold"/>
                <a:ea typeface="Century Gothic Paneuropean Bold"/>
                <a:cs typeface="Century Gothic Paneuropean Bold"/>
                <a:sym typeface="Century Gothic Paneuropean Bold"/>
              </a:rPr>
              <a:t>TO</a:t>
            </a:r>
            <a:r>
              <a:rPr lang="en-US" sz="6173">
                <a:solidFill>
                  <a:srgbClr val="000000"/>
                </a:solidFill>
                <a:latin typeface="Century Gothic Paneuropean"/>
                <a:ea typeface="Century Gothic Paneuropean"/>
                <a:cs typeface="Century Gothic Paneuropean"/>
                <a:sym typeface="Century Gothic Paneuropean"/>
              </a:rPr>
              <a:t>:-</a:t>
            </a:r>
          </a:p>
        </p:txBody>
      </p:sp>
      <p:sp>
        <p:nvSpPr>
          <p:cNvPr id="17" name="TextBox 17"/>
          <p:cNvSpPr txBox="1"/>
          <p:nvPr/>
        </p:nvSpPr>
        <p:spPr>
          <a:xfrm>
            <a:off x="5294698" y="8371205"/>
            <a:ext cx="9411902" cy="887095"/>
          </a:xfrm>
          <a:prstGeom prst="rect">
            <a:avLst/>
          </a:prstGeom>
        </p:spPr>
        <p:txBody>
          <a:bodyPr wrap="square" lIns="0" tIns="0" rIns="0" bIns="0" rtlCol="0" anchor="t">
            <a:spAutoFit/>
          </a:bodyPr>
          <a:lstStyle/>
          <a:p>
            <a:pPr algn="ctr">
              <a:lnSpc>
                <a:spcPts val="7279"/>
              </a:lnSpc>
            </a:pPr>
            <a:r>
              <a:rPr lang="en-US" sz="5199" b="1" dirty="0" err="1">
                <a:solidFill>
                  <a:srgbClr val="000000"/>
                </a:solidFill>
                <a:latin typeface="Canva Sans Bold"/>
                <a:ea typeface="Canva Sans Bold"/>
                <a:cs typeface="Canva Sans Bold"/>
                <a:sym typeface="Canva Sans Bold"/>
              </a:rPr>
              <a:t>Ms</a:t>
            </a:r>
            <a:r>
              <a:rPr lang="en-US" sz="5199" b="1" dirty="0">
                <a:solidFill>
                  <a:srgbClr val="000000"/>
                </a:solidFill>
                <a:latin typeface="Canva Sans Bold"/>
                <a:ea typeface="Canva Sans Bold"/>
                <a:cs typeface="Canva Sans Bold"/>
                <a:sym typeface="Canva Sans Bold"/>
              </a:rPr>
              <a:t> DEEPIKA TIWARI</a:t>
            </a:r>
          </a:p>
        </p:txBody>
      </p:sp>
      <p:sp>
        <p:nvSpPr>
          <p:cNvPr id="18" name="TextBox 18"/>
          <p:cNvSpPr txBox="1"/>
          <p:nvPr/>
        </p:nvSpPr>
        <p:spPr>
          <a:xfrm>
            <a:off x="2074902" y="151389"/>
            <a:ext cx="14138196" cy="896620"/>
          </a:xfrm>
          <a:prstGeom prst="rect">
            <a:avLst/>
          </a:prstGeom>
        </p:spPr>
        <p:txBody>
          <a:bodyPr lIns="0" tIns="0" rIns="0" bIns="0" rtlCol="0" anchor="t">
            <a:spAutoFit/>
          </a:bodyPr>
          <a:lstStyle/>
          <a:p>
            <a:pPr algn="ctr">
              <a:lnSpc>
                <a:spcPts val="7279"/>
              </a:lnSpc>
            </a:pPr>
            <a:r>
              <a:rPr lang="en-US" sz="5199">
                <a:solidFill>
                  <a:srgbClr val="000000"/>
                </a:solidFill>
                <a:latin typeface="Archive"/>
                <a:ea typeface="Archive"/>
                <a:cs typeface="Archive"/>
                <a:sym typeface="Archive"/>
              </a:rPr>
              <a:t>SHRI RAMSWAROOP MEMORIAL UNIVERSITY </a:t>
            </a:r>
          </a:p>
        </p:txBody>
      </p:sp>
      <p:sp>
        <p:nvSpPr>
          <p:cNvPr id="19" name="TextBox 19"/>
          <p:cNvSpPr txBox="1"/>
          <p:nvPr/>
        </p:nvSpPr>
        <p:spPr>
          <a:xfrm>
            <a:off x="12837192" y="9631476"/>
            <a:ext cx="5005031" cy="580390"/>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BTECH CS (DS+AI) 31,32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sp>
        <p:nvSpPr>
          <p:cNvPr id="5" name="Freeform 5"/>
          <p:cNvSpPr/>
          <p:nvPr/>
        </p:nvSpPr>
        <p:spPr>
          <a:xfrm>
            <a:off x="-159663" y="-762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sp>
        <p:nvSpPr>
          <p:cNvPr id="8" name="TextBox 8"/>
          <p:cNvSpPr txBox="1"/>
          <p:nvPr/>
        </p:nvSpPr>
        <p:spPr>
          <a:xfrm>
            <a:off x="7850237" y="1961555"/>
            <a:ext cx="9445526" cy="1790997"/>
          </a:xfrm>
          <a:prstGeom prst="rect">
            <a:avLst/>
          </a:prstGeom>
        </p:spPr>
        <p:txBody>
          <a:bodyPr lIns="0" tIns="0" rIns="0" bIns="0" rtlCol="0" anchor="t">
            <a:spAutoFit/>
          </a:bodyPr>
          <a:lstStyle/>
          <a:p>
            <a:pPr algn="l">
              <a:lnSpc>
                <a:spcPts val="6937"/>
              </a:lnSpc>
            </a:pPr>
            <a:r>
              <a:rPr lang="en-US" sz="5562" b="1">
                <a:solidFill>
                  <a:srgbClr val="030303"/>
                </a:solidFill>
                <a:latin typeface="DM Sans Bold"/>
                <a:ea typeface="DM Sans Bold"/>
                <a:cs typeface="DM Sans Bold"/>
                <a:sym typeface="DM Sans Bold"/>
              </a:rPr>
              <a:t>Instagram Data Analysis Project</a:t>
            </a:r>
          </a:p>
        </p:txBody>
      </p:sp>
      <p:grpSp>
        <p:nvGrpSpPr>
          <p:cNvPr id="9" name="Group 9"/>
          <p:cNvGrpSpPr/>
          <p:nvPr/>
        </p:nvGrpSpPr>
        <p:grpSpPr>
          <a:xfrm>
            <a:off x="7850237" y="4177754"/>
            <a:ext cx="9445526" cy="4128641"/>
            <a:chOff x="0" y="0"/>
            <a:chExt cx="12594035" cy="5504855"/>
          </a:xfrm>
        </p:grpSpPr>
        <p:sp>
          <p:nvSpPr>
            <p:cNvPr id="10" name="Freeform 10"/>
            <p:cNvSpPr/>
            <p:nvPr/>
          </p:nvSpPr>
          <p:spPr>
            <a:xfrm>
              <a:off x="0" y="0"/>
              <a:ext cx="12593955" cy="5504815"/>
            </a:xfrm>
            <a:custGeom>
              <a:avLst/>
              <a:gdLst/>
              <a:ahLst/>
              <a:cxnLst/>
              <a:rect l="l" t="t" r="r" b="b"/>
              <a:pathLst>
                <a:path w="12593955" h="5504815">
                  <a:moveTo>
                    <a:pt x="0" y="56642"/>
                  </a:moveTo>
                  <a:cubicBezTo>
                    <a:pt x="0" y="25400"/>
                    <a:pt x="25400" y="0"/>
                    <a:pt x="56642" y="0"/>
                  </a:cubicBezTo>
                  <a:lnTo>
                    <a:pt x="12537313" y="0"/>
                  </a:lnTo>
                  <a:cubicBezTo>
                    <a:pt x="12568682" y="0"/>
                    <a:pt x="12593955" y="25400"/>
                    <a:pt x="12593955" y="56642"/>
                  </a:cubicBezTo>
                  <a:lnTo>
                    <a:pt x="12593955" y="5448173"/>
                  </a:lnTo>
                  <a:cubicBezTo>
                    <a:pt x="12593955" y="5479542"/>
                    <a:pt x="12568555" y="5504815"/>
                    <a:pt x="12537313" y="5504815"/>
                  </a:cubicBezTo>
                  <a:lnTo>
                    <a:pt x="56642" y="5504815"/>
                  </a:lnTo>
                  <a:cubicBezTo>
                    <a:pt x="25273" y="5504815"/>
                    <a:pt x="0" y="5479415"/>
                    <a:pt x="0" y="5448173"/>
                  </a:cubicBezTo>
                  <a:close/>
                </a:path>
              </a:pathLst>
            </a:custGeom>
            <a:solidFill>
              <a:srgbClr val="F2EEEE"/>
            </a:solidFill>
          </p:spPr>
          <p:txBody>
            <a:bodyPr/>
            <a:lstStyle/>
            <a:p>
              <a:endParaRPr lang="en-IN"/>
            </a:p>
          </p:txBody>
        </p:sp>
      </p:grpSp>
      <p:grpSp>
        <p:nvGrpSpPr>
          <p:cNvPr id="11" name="Group 11"/>
          <p:cNvGrpSpPr/>
          <p:nvPr/>
        </p:nvGrpSpPr>
        <p:grpSpPr>
          <a:xfrm>
            <a:off x="8133755" y="4461272"/>
            <a:ext cx="850552" cy="850553"/>
            <a:chOff x="0" y="0"/>
            <a:chExt cx="1134070" cy="1134070"/>
          </a:xfrm>
        </p:grpSpPr>
        <p:sp>
          <p:nvSpPr>
            <p:cNvPr id="12" name="Freeform 12"/>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C9770"/>
            </a:solidFill>
          </p:spPr>
          <p:txBody>
            <a:bodyPr/>
            <a:lstStyle/>
            <a:p>
              <a:endParaRPr lang="en-IN"/>
            </a:p>
          </p:txBody>
        </p:sp>
      </p:grpSp>
      <p:sp>
        <p:nvSpPr>
          <p:cNvPr id="13" name="Freeform 13" descr="preencoded.png"/>
          <p:cNvSpPr/>
          <p:nvPr/>
        </p:nvSpPr>
        <p:spPr>
          <a:xfrm>
            <a:off x="8367712" y="4695081"/>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TextBox 14"/>
          <p:cNvSpPr txBox="1"/>
          <p:nvPr/>
        </p:nvSpPr>
        <p:spPr>
          <a:xfrm>
            <a:off x="8133755" y="5585817"/>
            <a:ext cx="3544044" cy="452437"/>
          </a:xfrm>
          <a:prstGeom prst="rect">
            <a:avLst/>
          </a:prstGeom>
        </p:spPr>
        <p:txBody>
          <a:bodyPr lIns="0" tIns="0" rIns="0" bIns="0" rtlCol="0" anchor="t">
            <a:spAutoFit/>
          </a:bodyPr>
          <a:lstStyle/>
          <a:p>
            <a:pPr algn="l">
              <a:lnSpc>
                <a:spcPts val="3437"/>
              </a:lnSpc>
            </a:pPr>
            <a:r>
              <a:rPr lang="en-US" sz="2750" b="1">
                <a:solidFill>
                  <a:srgbClr val="464646"/>
                </a:solidFill>
                <a:latin typeface="DM Sans Bold"/>
                <a:ea typeface="DM Sans Bold"/>
                <a:cs typeface="DM Sans Bold"/>
                <a:sym typeface="DM Sans Bold"/>
              </a:rPr>
              <a:t>Objective:</a:t>
            </a:r>
          </a:p>
        </p:txBody>
      </p:sp>
      <p:sp>
        <p:nvSpPr>
          <p:cNvPr id="15" name="TextBox 15"/>
          <p:cNvSpPr txBox="1"/>
          <p:nvPr/>
        </p:nvSpPr>
        <p:spPr>
          <a:xfrm>
            <a:off x="8133755" y="6122640"/>
            <a:ext cx="8878491" cy="1900237"/>
          </a:xfrm>
          <a:prstGeom prst="rect">
            <a:avLst/>
          </a:prstGeom>
        </p:spPr>
        <p:txBody>
          <a:bodyPr lIns="0" tIns="0" rIns="0" bIns="0" rtlCol="0" anchor="t">
            <a:spAutoFit/>
          </a:bodyPr>
          <a:lstStyle/>
          <a:p>
            <a:pPr algn="l">
              <a:lnSpc>
                <a:spcPts val="3562"/>
              </a:lnSpc>
            </a:pPr>
            <a:r>
              <a:rPr lang="en-US" sz="2187" b="1">
                <a:solidFill>
                  <a:srgbClr val="464646"/>
                </a:solidFill>
                <a:latin typeface="Inter Medium"/>
                <a:ea typeface="Inter Medium"/>
                <a:cs typeface="Inter Medium"/>
                <a:sym typeface="Inter Medium"/>
              </a:rPr>
              <a:t>Uncover key insights into user engagement and posting behavior by meticulously examining factors like demographics, device usage, geographic trends, and diverse content formats, ultimately driving strategic platform enhancements.</a:t>
            </a:r>
          </a:p>
        </p:txBody>
      </p:sp>
      <p:pic>
        <p:nvPicPr>
          <p:cNvPr id="1028" name="Picture 4" descr="Instagram (IG) Logo in SVG Vector ...">
            <a:extLst>
              <a:ext uri="{FF2B5EF4-FFF2-40B4-BE49-F238E27FC236}">
                <a16:creationId xmlns:a16="http://schemas.microsoft.com/office/drawing/2014/main" id="{AB2E8697-9736-631F-C2FB-E2A1783FDF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024" y="4468892"/>
            <a:ext cx="7324454" cy="48740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dvocacy, Analysis, and the Vital ...">
            <a:extLst>
              <a:ext uri="{FF2B5EF4-FFF2-40B4-BE49-F238E27FC236}">
                <a16:creationId xmlns:a16="http://schemas.microsoft.com/office/drawing/2014/main" id="{CD4B6113-FB42-7D4C-235C-763E895E0D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527824"/>
            <a:ext cx="4307381" cy="33445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txBody>
            <a:bodyPr/>
            <a:lstStyle/>
            <a:p>
              <a:endParaRPr lang="en-IN"/>
            </a:p>
          </p:txBody>
        </p:sp>
      </p:grpSp>
      <p:grpSp>
        <p:nvGrpSpPr>
          <p:cNvPr id="8" name="Group 8"/>
          <p:cNvGrpSpPr/>
          <p:nvPr/>
        </p:nvGrpSpPr>
        <p:grpSpPr>
          <a:xfrm>
            <a:off x="0" y="0"/>
            <a:ext cx="18288000" cy="10287000"/>
            <a:chOff x="0" y="0"/>
            <a:chExt cx="24384000" cy="13716000"/>
          </a:xfrm>
        </p:grpSpPr>
        <p:sp>
          <p:nvSpPr>
            <p:cNvPr id="9" name="Freeform 9"/>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FDFE0"/>
            </a:solidFill>
          </p:spPr>
          <p:txBody>
            <a:bodyPr/>
            <a:lstStyle/>
            <a:p>
              <a:endParaRPr lang="en-IN"/>
            </a:p>
          </p:txBody>
        </p:sp>
      </p:grpSp>
      <p:sp>
        <p:nvSpPr>
          <p:cNvPr id="10" name="TextBox 10"/>
          <p:cNvSpPr txBox="1"/>
          <p:nvPr/>
        </p:nvSpPr>
        <p:spPr>
          <a:xfrm>
            <a:off x="992238" y="903685"/>
            <a:ext cx="12715577" cy="585490"/>
          </a:xfrm>
          <a:prstGeom prst="rect">
            <a:avLst/>
          </a:prstGeom>
        </p:spPr>
        <p:txBody>
          <a:bodyPr lIns="0" tIns="0" rIns="0" bIns="0" rtlCol="0" anchor="t">
            <a:spAutoFit/>
          </a:bodyPr>
          <a:lstStyle/>
          <a:p>
            <a:pPr algn="l">
              <a:lnSpc>
                <a:spcPts val="4499"/>
              </a:lnSpc>
            </a:pPr>
            <a:r>
              <a:rPr lang="en-US" sz="3625" b="1">
                <a:solidFill>
                  <a:srgbClr val="030303"/>
                </a:solidFill>
                <a:latin typeface="DM Sans Bold"/>
                <a:ea typeface="DM Sans Bold"/>
                <a:cs typeface="DM Sans Bold"/>
                <a:sym typeface="DM Sans Bold"/>
              </a:rPr>
              <a:t>Dataset Insights: A Deep Dive into Instagram Engagement</a:t>
            </a:r>
          </a:p>
        </p:txBody>
      </p:sp>
      <p:sp>
        <p:nvSpPr>
          <p:cNvPr id="11" name="TextBox 11"/>
          <p:cNvSpPr txBox="1"/>
          <p:nvPr/>
        </p:nvSpPr>
        <p:spPr>
          <a:xfrm>
            <a:off x="992238" y="1915344"/>
            <a:ext cx="16303526" cy="969764"/>
          </a:xfrm>
          <a:prstGeom prst="rect">
            <a:avLst/>
          </a:prstGeom>
        </p:spPr>
        <p:txBody>
          <a:bodyPr lIns="0" tIns="0" rIns="0" bIns="0" rtlCol="0" anchor="t">
            <a:spAutoFit/>
          </a:bodyPr>
          <a:lstStyle/>
          <a:p>
            <a:pPr algn="l">
              <a:lnSpc>
                <a:spcPts val="2312"/>
              </a:lnSpc>
            </a:pPr>
            <a:r>
              <a:rPr lang="en-US" sz="1437" b="1">
                <a:solidFill>
                  <a:srgbClr val="464646"/>
                </a:solidFill>
                <a:latin typeface="Inter Medium"/>
                <a:ea typeface="Inter Medium"/>
                <a:cs typeface="Inter Medium"/>
                <a:sym typeface="Inter Medium"/>
              </a:rPr>
              <a:t>Our analysis draws upon a rich dataset comprising </a:t>
            </a:r>
            <a:r>
              <a:rPr lang="en-US" sz="1437" b="1">
                <a:solidFill>
                  <a:srgbClr val="464646"/>
                </a:solidFill>
                <a:latin typeface="Inter Bold"/>
                <a:ea typeface="Inter Bold"/>
                <a:cs typeface="Inter Bold"/>
                <a:sym typeface="Inter Bold"/>
              </a:rPr>
              <a:t>1200 unique Instagram user profiles</a:t>
            </a:r>
            <a:r>
              <a:rPr lang="en-US" sz="1437" b="1">
                <a:solidFill>
                  <a:srgbClr val="464646"/>
                </a:solidFill>
                <a:latin typeface="Inter Medium"/>
                <a:ea typeface="Inter Medium"/>
                <a:cs typeface="Inter Medium"/>
                <a:sym typeface="Inter Medium"/>
              </a:rPr>
              <a:t> and their associated post activities, meticulously collected and structured for comprehensive study. This robust dataset, sourced from </a:t>
            </a:r>
            <a:r>
              <a:rPr lang="en-US" sz="1437">
                <a:solidFill>
                  <a:srgbClr val="464646"/>
                </a:solidFill>
                <a:latin typeface="Inter"/>
                <a:ea typeface="Inter"/>
                <a:cs typeface="Inter"/>
                <a:sym typeface="Inter"/>
              </a:rPr>
              <a:t>instagram_analysis_unique_users.xlsx</a:t>
            </a:r>
            <a:r>
              <a:rPr lang="en-US" sz="1437" b="1">
                <a:solidFill>
                  <a:srgbClr val="464646"/>
                </a:solidFill>
                <a:latin typeface="Inter Medium"/>
                <a:ea typeface="Inter Medium"/>
                <a:cs typeface="Inter Medium"/>
                <a:sym typeface="Inter Medium"/>
              </a:rPr>
              <a:t>, provides a granular view into user behavior and content performance, making it an invaluable resource for strategic decision-making and platform optimization.</a:t>
            </a:r>
          </a:p>
        </p:txBody>
      </p:sp>
      <p:sp>
        <p:nvSpPr>
          <p:cNvPr id="12" name="TextBox 12"/>
          <p:cNvSpPr txBox="1"/>
          <p:nvPr/>
        </p:nvSpPr>
        <p:spPr>
          <a:xfrm>
            <a:off x="992238" y="2809280"/>
            <a:ext cx="16303526" cy="361355"/>
          </a:xfrm>
          <a:prstGeom prst="rect">
            <a:avLst/>
          </a:prstGeom>
        </p:spPr>
        <p:txBody>
          <a:bodyPr lIns="0" tIns="0" rIns="0" bIns="0" rtlCol="0" anchor="t">
            <a:spAutoFit/>
          </a:bodyPr>
          <a:lstStyle/>
          <a:p>
            <a:pPr algn="l">
              <a:lnSpc>
                <a:spcPts val="2312"/>
              </a:lnSpc>
            </a:pPr>
            <a:r>
              <a:rPr lang="en-US" sz="1437" b="1">
                <a:solidFill>
                  <a:srgbClr val="464646"/>
                </a:solidFill>
                <a:latin typeface="Inter Medium"/>
                <a:ea typeface="Inter Medium"/>
                <a:cs typeface="Inter Medium"/>
                <a:sym typeface="Inter Medium"/>
              </a:rPr>
              <a:t>The dataset's true power lies in its comprehensive tracking of key metrics and user attributes, enabling us to unlock powerful insights:</a:t>
            </a:r>
          </a:p>
        </p:txBody>
      </p:sp>
      <p:sp>
        <p:nvSpPr>
          <p:cNvPr id="13" name="Freeform 13" descr="preencoded.png"/>
          <p:cNvSpPr/>
          <p:nvPr/>
        </p:nvSpPr>
        <p:spPr>
          <a:xfrm>
            <a:off x="992238" y="3377952"/>
            <a:ext cx="460622" cy="460622"/>
          </a:xfrm>
          <a:custGeom>
            <a:avLst/>
            <a:gdLst/>
            <a:ahLst/>
            <a:cxnLst/>
            <a:rect l="l" t="t" r="r" b="b"/>
            <a:pathLst>
              <a:path w="460622" h="460622">
                <a:moveTo>
                  <a:pt x="0" y="0"/>
                </a:moveTo>
                <a:lnTo>
                  <a:pt x="460622" y="0"/>
                </a:lnTo>
                <a:lnTo>
                  <a:pt x="460622" y="460623"/>
                </a:lnTo>
                <a:lnTo>
                  <a:pt x="0" y="460623"/>
                </a:lnTo>
                <a:lnTo>
                  <a:pt x="0" y="0"/>
                </a:lnTo>
                <a:close/>
              </a:path>
            </a:pathLst>
          </a:custGeom>
          <a:blipFill>
            <a:blip r:embed="rId5">
              <a:extLst>
                <a:ext uri="{96DAC541-7B7A-43D3-8B79-37D633B846F1}">
                  <asvg:svgBlip xmlns:asvg="http://schemas.microsoft.com/office/drawing/2016/SVG/main" r:embed="rId6"/>
                </a:ext>
              </a:extLst>
            </a:blip>
            <a:stretch>
              <a:fillRect t="-6122" b="-6122"/>
            </a:stretch>
          </a:blipFill>
        </p:spPr>
        <p:txBody>
          <a:bodyPr/>
          <a:lstStyle/>
          <a:p>
            <a:endParaRPr lang="en-IN"/>
          </a:p>
        </p:txBody>
      </p:sp>
      <p:sp>
        <p:nvSpPr>
          <p:cNvPr id="14" name="TextBox 14"/>
          <p:cNvSpPr txBox="1"/>
          <p:nvPr/>
        </p:nvSpPr>
        <p:spPr>
          <a:xfrm>
            <a:off x="992238" y="4059287"/>
            <a:ext cx="2303710" cy="297508"/>
          </a:xfrm>
          <a:prstGeom prst="rect">
            <a:avLst/>
          </a:prstGeom>
        </p:spPr>
        <p:txBody>
          <a:bodyPr lIns="0" tIns="0" rIns="0" bIns="0" rtlCol="0" anchor="t">
            <a:spAutoFit/>
          </a:bodyPr>
          <a:lstStyle/>
          <a:p>
            <a:pPr algn="l">
              <a:lnSpc>
                <a:spcPts val="2249"/>
              </a:lnSpc>
            </a:pPr>
            <a:r>
              <a:rPr lang="en-US" sz="1812" b="1">
                <a:solidFill>
                  <a:srgbClr val="464646"/>
                </a:solidFill>
                <a:latin typeface="DM Sans Bold"/>
                <a:ea typeface="DM Sans Bold"/>
                <a:cs typeface="DM Sans Bold"/>
                <a:sym typeface="DM Sans Bold"/>
              </a:rPr>
              <a:t>User Identity</a:t>
            </a:r>
          </a:p>
        </p:txBody>
      </p:sp>
      <p:sp>
        <p:nvSpPr>
          <p:cNvPr id="15" name="TextBox 15"/>
          <p:cNvSpPr txBox="1"/>
          <p:nvPr/>
        </p:nvSpPr>
        <p:spPr>
          <a:xfrm>
            <a:off x="992238" y="4400550"/>
            <a:ext cx="5281017" cy="1245394"/>
          </a:xfrm>
          <a:prstGeom prst="rect">
            <a:avLst/>
          </a:prstGeom>
        </p:spPr>
        <p:txBody>
          <a:bodyPr lIns="0" tIns="0" rIns="0" bIns="0" rtlCol="0" anchor="t">
            <a:spAutoFit/>
          </a:bodyPr>
          <a:lstStyle/>
          <a:p>
            <a:pPr algn="l">
              <a:lnSpc>
                <a:spcPts val="2312"/>
              </a:lnSpc>
            </a:pPr>
            <a:r>
              <a:rPr lang="en-US" sz="1437" b="1">
                <a:solidFill>
                  <a:srgbClr val="464646"/>
                </a:solidFill>
                <a:latin typeface="Inter Bold"/>
                <a:ea typeface="Inter Bold"/>
                <a:cs typeface="Inter Bold"/>
                <a:sym typeface="Inter Bold"/>
              </a:rPr>
              <a:t>Username:</a:t>
            </a:r>
            <a:r>
              <a:rPr lang="en-US" sz="1437" b="1">
                <a:solidFill>
                  <a:srgbClr val="464646"/>
                </a:solidFill>
                <a:latin typeface="Inter Medium"/>
                <a:ea typeface="Inter Medium"/>
                <a:cs typeface="Inter Medium"/>
                <a:sym typeface="Inter Medium"/>
              </a:rPr>
              <a:t> Unique identifiers for each profile, crucial for tracking individual journey. </a:t>
            </a:r>
            <a:r>
              <a:rPr lang="en-US" sz="1437" b="1">
                <a:solidFill>
                  <a:srgbClr val="464646"/>
                </a:solidFill>
                <a:latin typeface="Inter Bold"/>
                <a:ea typeface="Inter Bold"/>
                <a:cs typeface="Inter Bold"/>
                <a:sym typeface="Inter Bold"/>
              </a:rPr>
              <a:t>Gender:</a:t>
            </a:r>
            <a:r>
              <a:rPr lang="en-US" sz="1437" b="1">
                <a:solidFill>
                  <a:srgbClr val="464646"/>
                </a:solidFill>
                <a:latin typeface="Inter Medium"/>
                <a:ea typeface="Inter Medium"/>
                <a:cs typeface="Inter Medium"/>
                <a:sym typeface="Inter Medium"/>
              </a:rPr>
              <a:t> Self-declared or inferred demographics, vital for audience segmentation.</a:t>
            </a:r>
          </a:p>
        </p:txBody>
      </p:sp>
      <p:sp>
        <p:nvSpPr>
          <p:cNvPr id="16" name="Freeform 16" descr="preencoded.png"/>
          <p:cNvSpPr/>
          <p:nvPr/>
        </p:nvSpPr>
        <p:spPr>
          <a:xfrm>
            <a:off x="6503491" y="3377952"/>
            <a:ext cx="460623" cy="460622"/>
          </a:xfrm>
          <a:custGeom>
            <a:avLst/>
            <a:gdLst/>
            <a:ahLst/>
            <a:cxnLst/>
            <a:rect l="l" t="t" r="r" b="b"/>
            <a:pathLst>
              <a:path w="460623" h="460622">
                <a:moveTo>
                  <a:pt x="0" y="0"/>
                </a:moveTo>
                <a:lnTo>
                  <a:pt x="460623" y="0"/>
                </a:lnTo>
                <a:lnTo>
                  <a:pt x="460623" y="460623"/>
                </a:lnTo>
                <a:lnTo>
                  <a:pt x="0" y="460623"/>
                </a:lnTo>
                <a:lnTo>
                  <a:pt x="0" y="0"/>
                </a:lnTo>
                <a:close/>
              </a:path>
            </a:pathLst>
          </a:custGeom>
          <a:blipFill>
            <a:blip r:embed="rId7">
              <a:extLst>
                <a:ext uri="{96DAC541-7B7A-43D3-8B79-37D633B846F1}">
                  <asvg:svgBlip xmlns:asvg="http://schemas.microsoft.com/office/drawing/2016/SVG/main" r:embed="rId8"/>
                </a:ext>
              </a:extLst>
            </a:blip>
            <a:stretch>
              <a:fillRect t="-9183" b="-9183"/>
            </a:stretch>
          </a:blipFill>
        </p:spPr>
        <p:txBody>
          <a:bodyPr/>
          <a:lstStyle/>
          <a:p>
            <a:endParaRPr lang="en-IN"/>
          </a:p>
        </p:txBody>
      </p:sp>
      <p:sp>
        <p:nvSpPr>
          <p:cNvPr id="17" name="TextBox 17"/>
          <p:cNvSpPr txBox="1"/>
          <p:nvPr/>
        </p:nvSpPr>
        <p:spPr>
          <a:xfrm>
            <a:off x="6503491" y="4059287"/>
            <a:ext cx="2303710" cy="297508"/>
          </a:xfrm>
          <a:prstGeom prst="rect">
            <a:avLst/>
          </a:prstGeom>
        </p:spPr>
        <p:txBody>
          <a:bodyPr lIns="0" tIns="0" rIns="0" bIns="0" rtlCol="0" anchor="t">
            <a:spAutoFit/>
          </a:bodyPr>
          <a:lstStyle/>
          <a:p>
            <a:pPr algn="l">
              <a:lnSpc>
                <a:spcPts val="2249"/>
              </a:lnSpc>
            </a:pPr>
            <a:r>
              <a:rPr lang="en-US" sz="1812" b="1">
                <a:solidFill>
                  <a:srgbClr val="464646"/>
                </a:solidFill>
                <a:latin typeface="DM Sans Bold"/>
                <a:ea typeface="DM Sans Bold"/>
                <a:cs typeface="DM Sans Bold"/>
                <a:sym typeface="DM Sans Bold"/>
              </a:rPr>
              <a:t>Content Dynamics</a:t>
            </a:r>
          </a:p>
        </p:txBody>
      </p:sp>
      <p:sp>
        <p:nvSpPr>
          <p:cNvPr id="18" name="TextBox 18"/>
          <p:cNvSpPr txBox="1"/>
          <p:nvPr/>
        </p:nvSpPr>
        <p:spPr>
          <a:xfrm>
            <a:off x="6503491" y="4400550"/>
            <a:ext cx="5281018" cy="1245394"/>
          </a:xfrm>
          <a:prstGeom prst="rect">
            <a:avLst/>
          </a:prstGeom>
        </p:spPr>
        <p:txBody>
          <a:bodyPr lIns="0" tIns="0" rIns="0" bIns="0" rtlCol="0" anchor="t">
            <a:spAutoFit/>
          </a:bodyPr>
          <a:lstStyle/>
          <a:p>
            <a:pPr algn="l">
              <a:lnSpc>
                <a:spcPts val="2312"/>
              </a:lnSpc>
            </a:pPr>
            <a:r>
              <a:rPr lang="en-US" sz="1437" b="1">
                <a:solidFill>
                  <a:srgbClr val="464646"/>
                </a:solidFill>
                <a:latin typeface="Inter Bold"/>
                <a:ea typeface="Inter Bold"/>
                <a:cs typeface="Inter Bold"/>
                <a:sym typeface="Inter Bold"/>
              </a:rPr>
              <a:t>Post_Type:</a:t>
            </a:r>
            <a:r>
              <a:rPr lang="en-US" sz="1437" b="1">
                <a:solidFill>
                  <a:srgbClr val="464646"/>
                </a:solidFill>
                <a:latin typeface="Inter Medium"/>
                <a:ea typeface="Inter Medium"/>
                <a:cs typeface="Inter Medium"/>
                <a:sym typeface="Inter Medium"/>
              </a:rPr>
              <a:t> Categorizes content (Photo, Video, Carousel) to understand preferred formats. </a:t>
            </a:r>
            <a:r>
              <a:rPr lang="en-US" sz="1437" b="1">
                <a:solidFill>
                  <a:srgbClr val="464646"/>
                </a:solidFill>
                <a:latin typeface="Inter Bold"/>
                <a:ea typeface="Inter Bold"/>
                <a:cs typeface="Inter Bold"/>
                <a:sym typeface="Inter Bold"/>
              </a:rPr>
              <a:t>Hashtag:</a:t>
            </a:r>
            <a:r>
              <a:rPr lang="en-US" sz="1437" b="1">
                <a:solidFill>
                  <a:srgbClr val="464646"/>
                </a:solidFill>
                <a:latin typeface="Inter Medium"/>
                <a:ea typeface="Inter Medium"/>
                <a:cs typeface="Inter Medium"/>
                <a:sym typeface="Inter Medium"/>
              </a:rPr>
              <a:t> Captures primary hashtags, revealing content themes and discoverability strategies.</a:t>
            </a:r>
          </a:p>
        </p:txBody>
      </p:sp>
      <p:sp>
        <p:nvSpPr>
          <p:cNvPr id="19" name="Freeform 19" descr="preencoded.png"/>
          <p:cNvSpPr/>
          <p:nvPr/>
        </p:nvSpPr>
        <p:spPr>
          <a:xfrm>
            <a:off x="12014746" y="3377952"/>
            <a:ext cx="460622" cy="460622"/>
          </a:xfrm>
          <a:custGeom>
            <a:avLst/>
            <a:gdLst/>
            <a:ahLst/>
            <a:cxnLst/>
            <a:rect l="l" t="t" r="r" b="b"/>
            <a:pathLst>
              <a:path w="460622" h="460622">
                <a:moveTo>
                  <a:pt x="0" y="0"/>
                </a:moveTo>
                <a:lnTo>
                  <a:pt x="460623" y="0"/>
                </a:lnTo>
                <a:lnTo>
                  <a:pt x="460623" y="460623"/>
                </a:lnTo>
                <a:lnTo>
                  <a:pt x="0" y="460623"/>
                </a:lnTo>
                <a:lnTo>
                  <a:pt x="0" y="0"/>
                </a:lnTo>
                <a:close/>
              </a:path>
            </a:pathLst>
          </a:custGeom>
          <a:blipFill>
            <a:blip r:embed="rId9">
              <a:extLst>
                <a:ext uri="{96DAC541-7B7A-43D3-8B79-37D633B846F1}">
                  <asvg:svgBlip xmlns:asvg="http://schemas.microsoft.com/office/drawing/2016/SVG/main" r:embed="rId10"/>
                </a:ext>
              </a:extLst>
            </a:blip>
            <a:stretch>
              <a:fillRect t="-13265" b="-13265"/>
            </a:stretch>
          </a:blipFill>
        </p:spPr>
        <p:txBody>
          <a:bodyPr/>
          <a:lstStyle/>
          <a:p>
            <a:endParaRPr lang="en-IN"/>
          </a:p>
        </p:txBody>
      </p:sp>
      <p:sp>
        <p:nvSpPr>
          <p:cNvPr id="20" name="TextBox 20"/>
          <p:cNvSpPr txBox="1"/>
          <p:nvPr/>
        </p:nvSpPr>
        <p:spPr>
          <a:xfrm>
            <a:off x="12014746" y="4059287"/>
            <a:ext cx="2303710" cy="297508"/>
          </a:xfrm>
          <a:prstGeom prst="rect">
            <a:avLst/>
          </a:prstGeom>
        </p:spPr>
        <p:txBody>
          <a:bodyPr lIns="0" tIns="0" rIns="0" bIns="0" rtlCol="0" anchor="t">
            <a:spAutoFit/>
          </a:bodyPr>
          <a:lstStyle/>
          <a:p>
            <a:pPr algn="l">
              <a:lnSpc>
                <a:spcPts val="2249"/>
              </a:lnSpc>
            </a:pPr>
            <a:r>
              <a:rPr lang="en-US" sz="1812" b="1">
                <a:solidFill>
                  <a:srgbClr val="464646"/>
                </a:solidFill>
                <a:latin typeface="DM Sans Bold"/>
                <a:ea typeface="DM Sans Bold"/>
                <a:cs typeface="DM Sans Bold"/>
                <a:sym typeface="DM Sans Bold"/>
              </a:rPr>
              <a:t>Audience Reach</a:t>
            </a:r>
          </a:p>
        </p:txBody>
      </p:sp>
      <p:sp>
        <p:nvSpPr>
          <p:cNvPr id="21" name="TextBox 21"/>
          <p:cNvSpPr txBox="1"/>
          <p:nvPr/>
        </p:nvSpPr>
        <p:spPr>
          <a:xfrm>
            <a:off x="12014746" y="4400550"/>
            <a:ext cx="5281017" cy="656035"/>
          </a:xfrm>
          <a:prstGeom prst="rect">
            <a:avLst/>
          </a:prstGeom>
        </p:spPr>
        <p:txBody>
          <a:bodyPr lIns="0" tIns="0" rIns="0" bIns="0" rtlCol="0" anchor="t">
            <a:spAutoFit/>
          </a:bodyPr>
          <a:lstStyle/>
          <a:p>
            <a:pPr algn="l">
              <a:lnSpc>
                <a:spcPts val="2312"/>
              </a:lnSpc>
            </a:pPr>
            <a:r>
              <a:rPr lang="en-US" sz="1437" b="1">
                <a:solidFill>
                  <a:srgbClr val="464646"/>
                </a:solidFill>
                <a:latin typeface="Inter Bold"/>
                <a:ea typeface="Inter Bold"/>
                <a:cs typeface="Inter Bold"/>
                <a:sym typeface="Inter Bold"/>
              </a:rPr>
              <a:t>Followers:</a:t>
            </a:r>
            <a:r>
              <a:rPr lang="en-US" sz="1437" b="1">
                <a:solidFill>
                  <a:srgbClr val="464646"/>
                </a:solidFill>
                <a:latin typeface="Inter Medium"/>
                <a:ea typeface="Inter Medium"/>
                <a:cs typeface="Inter Medium"/>
                <a:sym typeface="Inter Medium"/>
              </a:rPr>
              <a:t> The number of followers (100 - 1M+) provides context on a user's potential reach and influence.</a:t>
            </a:r>
          </a:p>
        </p:txBody>
      </p:sp>
      <p:sp>
        <p:nvSpPr>
          <p:cNvPr id="22" name="Freeform 22" descr="preencoded.png"/>
          <p:cNvSpPr/>
          <p:nvPr/>
        </p:nvSpPr>
        <p:spPr>
          <a:xfrm>
            <a:off x="992238" y="6014442"/>
            <a:ext cx="460622" cy="460622"/>
          </a:xfrm>
          <a:custGeom>
            <a:avLst/>
            <a:gdLst/>
            <a:ahLst/>
            <a:cxnLst/>
            <a:rect l="l" t="t" r="r" b="b"/>
            <a:pathLst>
              <a:path w="460622" h="460622">
                <a:moveTo>
                  <a:pt x="0" y="0"/>
                </a:moveTo>
                <a:lnTo>
                  <a:pt x="460622" y="0"/>
                </a:lnTo>
                <a:lnTo>
                  <a:pt x="460622" y="460623"/>
                </a:lnTo>
                <a:lnTo>
                  <a:pt x="0" y="460623"/>
                </a:lnTo>
                <a:lnTo>
                  <a:pt x="0" y="0"/>
                </a:lnTo>
                <a:close/>
              </a:path>
            </a:pathLst>
          </a:custGeom>
          <a:blipFill>
            <a:blip r:embed="rId11">
              <a:extLst>
                <a:ext uri="{96DAC541-7B7A-43D3-8B79-37D633B846F1}">
                  <asvg:svgBlip xmlns:asvg="http://schemas.microsoft.com/office/drawing/2016/SVG/main" r:embed="rId12"/>
                </a:ext>
              </a:extLst>
            </a:blip>
            <a:stretch>
              <a:fillRect t="-2040" b="-2040"/>
            </a:stretch>
          </a:blipFill>
        </p:spPr>
        <p:txBody>
          <a:bodyPr/>
          <a:lstStyle/>
          <a:p>
            <a:endParaRPr lang="en-IN"/>
          </a:p>
        </p:txBody>
      </p:sp>
      <p:sp>
        <p:nvSpPr>
          <p:cNvPr id="23" name="TextBox 23"/>
          <p:cNvSpPr txBox="1"/>
          <p:nvPr/>
        </p:nvSpPr>
        <p:spPr>
          <a:xfrm>
            <a:off x="992238" y="6695777"/>
            <a:ext cx="2875210" cy="297507"/>
          </a:xfrm>
          <a:prstGeom prst="rect">
            <a:avLst/>
          </a:prstGeom>
        </p:spPr>
        <p:txBody>
          <a:bodyPr lIns="0" tIns="0" rIns="0" bIns="0" rtlCol="0" anchor="t">
            <a:spAutoFit/>
          </a:bodyPr>
          <a:lstStyle/>
          <a:p>
            <a:pPr algn="l">
              <a:lnSpc>
                <a:spcPts val="2249"/>
              </a:lnSpc>
            </a:pPr>
            <a:r>
              <a:rPr lang="en-US" sz="1812" b="1">
                <a:solidFill>
                  <a:srgbClr val="464646"/>
                </a:solidFill>
                <a:latin typeface="DM Sans Bold"/>
                <a:ea typeface="DM Sans Bold"/>
                <a:cs typeface="DM Sans Bold"/>
                <a:sym typeface="DM Sans Bold"/>
              </a:rPr>
              <a:t>Engagement Performance</a:t>
            </a:r>
          </a:p>
        </p:txBody>
      </p:sp>
      <p:sp>
        <p:nvSpPr>
          <p:cNvPr id="24" name="TextBox 24"/>
          <p:cNvSpPr txBox="1"/>
          <p:nvPr/>
        </p:nvSpPr>
        <p:spPr>
          <a:xfrm>
            <a:off x="992238" y="7244357"/>
            <a:ext cx="5281017" cy="1540074"/>
          </a:xfrm>
          <a:prstGeom prst="rect">
            <a:avLst/>
          </a:prstGeom>
        </p:spPr>
        <p:txBody>
          <a:bodyPr lIns="0" tIns="0" rIns="0" bIns="0" rtlCol="0" anchor="t">
            <a:spAutoFit/>
          </a:bodyPr>
          <a:lstStyle/>
          <a:p>
            <a:pPr algn="l">
              <a:lnSpc>
                <a:spcPts val="2312"/>
              </a:lnSpc>
            </a:pPr>
            <a:r>
              <a:rPr lang="en-US" sz="1437" b="1">
                <a:solidFill>
                  <a:srgbClr val="464646"/>
                </a:solidFill>
                <a:latin typeface="Inter Bold"/>
                <a:ea typeface="Inter Bold"/>
                <a:cs typeface="Inter Bold"/>
                <a:sym typeface="Inter Bold"/>
              </a:rPr>
              <a:t>Likes &amp; Comments:</a:t>
            </a:r>
            <a:r>
              <a:rPr lang="en-US" sz="1437" b="1">
                <a:solidFill>
                  <a:srgbClr val="464646"/>
                </a:solidFill>
                <a:latin typeface="Inter Medium"/>
                <a:ea typeface="Inter Medium"/>
                <a:cs typeface="Inter Medium"/>
                <a:sym typeface="Inter Medium"/>
              </a:rPr>
              <a:t> Direct measures of audience interaction (0 - 500K+ likes, 0 - 10K+ comments). </a:t>
            </a:r>
            <a:r>
              <a:rPr lang="en-US" sz="1437" b="1">
                <a:solidFill>
                  <a:srgbClr val="464646"/>
                </a:solidFill>
                <a:latin typeface="Inter Bold"/>
                <a:ea typeface="Inter Bold"/>
                <a:cs typeface="Inter Bold"/>
                <a:sym typeface="Inter Bold"/>
              </a:rPr>
              <a:t>Engagement_Rate:</a:t>
            </a:r>
            <a:r>
              <a:rPr lang="en-US" sz="1437" b="1">
                <a:solidFill>
                  <a:srgbClr val="464646"/>
                </a:solidFill>
                <a:latin typeface="Inter Medium"/>
                <a:ea typeface="Inter Medium"/>
                <a:cs typeface="Inter Medium"/>
                <a:sym typeface="Inter Medium"/>
              </a:rPr>
              <a:t> Calculated metric ((Likes + Comments) / Followers * 100) indicating content effectiveness (0.01% - 15%).</a:t>
            </a:r>
          </a:p>
        </p:txBody>
      </p:sp>
      <p:sp>
        <p:nvSpPr>
          <p:cNvPr id="25" name="Freeform 25" descr="preencoded.png"/>
          <p:cNvSpPr/>
          <p:nvPr/>
        </p:nvSpPr>
        <p:spPr>
          <a:xfrm>
            <a:off x="6503491" y="6014442"/>
            <a:ext cx="460623" cy="460622"/>
          </a:xfrm>
          <a:custGeom>
            <a:avLst/>
            <a:gdLst/>
            <a:ahLst/>
            <a:cxnLst/>
            <a:rect l="l" t="t" r="r" b="b"/>
            <a:pathLst>
              <a:path w="460623" h="460622">
                <a:moveTo>
                  <a:pt x="0" y="0"/>
                </a:moveTo>
                <a:lnTo>
                  <a:pt x="460623" y="0"/>
                </a:lnTo>
                <a:lnTo>
                  <a:pt x="460623" y="460623"/>
                </a:lnTo>
                <a:lnTo>
                  <a:pt x="0" y="46062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26" name="TextBox 26"/>
          <p:cNvSpPr txBox="1"/>
          <p:nvPr/>
        </p:nvSpPr>
        <p:spPr>
          <a:xfrm>
            <a:off x="6503491" y="6695777"/>
            <a:ext cx="2303710" cy="297507"/>
          </a:xfrm>
          <a:prstGeom prst="rect">
            <a:avLst/>
          </a:prstGeom>
        </p:spPr>
        <p:txBody>
          <a:bodyPr lIns="0" tIns="0" rIns="0" bIns="0" rtlCol="0" anchor="t">
            <a:spAutoFit/>
          </a:bodyPr>
          <a:lstStyle/>
          <a:p>
            <a:pPr algn="l">
              <a:lnSpc>
                <a:spcPts val="2249"/>
              </a:lnSpc>
            </a:pPr>
            <a:r>
              <a:rPr lang="en-US" sz="1812" b="1">
                <a:solidFill>
                  <a:srgbClr val="464646"/>
                </a:solidFill>
                <a:latin typeface="DM Sans Bold"/>
                <a:ea typeface="DM Sans Bold"/>
                <a:cs typeface="DM Sans Bold"/>
                <a:sym typeface="DM Sans Bold"/>
              </a:rPr>
              <a:t>Contextual Data</a:t>
            </a:r>
          </a:p>
        </p:txBody>
      </p:sp>
      <p:sp>
        <p:nvSpPr>
          <p:cNvPr id="27" name="TextBox 27"/>
          <p:cNvSpPr txBox="1"/>
          <p:nvPr/>
        </p:nvSpPr>
        <p:spPr>
          <a:xfrm>
            <a:off x="6503491" y="7037040"/>
            <a:ext cx="5281018" cy="1245394"/>
          </a:xfrm>
          <a:prstGeom prst="rect">
            <a:avLst/>
          </a:prstGeom>
        </p:spPr>
        <p:txBody>
          <a:bodyPr lIns="0" tIns="0" rIns="0" bIns="0" rtlCol="0" anchor="t">
            <a:spAutoFit/>
          </a:bodyPr>
          <a:lstStyle/>
          <a:p>
            <a:pPr algn="l">
              <a:lnSpc>
                <a:spcPts val="2312"/>
              </a:lnSpc>
            </a:pPr>
            <a:r>
              <a:rPr lang="en-US" sz="1437" b="1">
                <a:solidFill>
                  <a:srgbClr val="464646"/>
                </a:solidFill>
                <a:latin typeface="Inter Bold"/>
                <a:ea typeface="Inter Bold"/>
                <a:cs typeface="Inter Bold"/>
                <a:sym typeface="Inter Bold"/>
              </a:rPr>
              <a:t>Location:</a:t>
            </a:r>
            <a:r>
              <a:rPr lang="en-US" sz="1437" b="1">
                <a:solidFill>
                  <a:srgbClr val="464646"/>
                </a:solidFill>
                <a:latin typeface="Inter Medium"/>
                <a:ea typeface="Inter Medium"/>
                <a:cs typeface="Inter Medium"/>
                <a:sym typeface="Inter Medium"/>
              </a:rPr>
              <a:t> User-defined post locations, offering geographic insights. </a:t>
            </a:r>
            <a:r>
              <a:rPr lang="en-US" sz="1437" b="1">
                <a:solidFill>
                  <a:srgbClr val="464646"/>
                </a:solidFill>
                <a:latin typeface="Inter Bold"/>
                <a:ea typeface="Inter Bold"/>
                <a:cs typeface="Inter Bold"/>
                <a:sym typeface="Inter Bold"/>
              </a:rPr>
              <a:t>Device:</a:t>
            </a:r>
            <a:r>
              <a:rPr lang="en-US" sz="1437" b="1">
                <a:solidFill>
                  <a:srgbClr val="464646"/>
                </a:solidFill>
                <a:latin typeface="Inter Medium"/>
                <a:ea typeface="Inter Medium"/>
                <a:cs typeface="Inter Medium"/>
                <a:sym typeface="Inter Medium"/>
              </a:rPr>
              <a:t> Identifies the device used (iOS, Android, Web), hinting at user habits and platform access.</a:t>
            </a:r>
          </a:p>
        </p:txBody>
      </p:sp>
      <p:sp>
        <p:nvSpPr>
          <p:cNvPr id="28" name="TextBox 28"/>
          <p:cNvSpPr txBox="1"/>
          <p:nvPr/>
        </p:nvSpPr>
        <p:spPr>
          <a:xfrm>
            <a:off x="992238" y="8717756"/>
            <a:ext cx="16303526" cy="656035"/>
          </a:xfrm>
          <a:prstGeom prst="rect">
            <a:avLst/>
          </a:prstGeom>
        </p:spPr>
        <p:txBody>
          <a:bodyPr lIns="0" tIns="0" rIns="0" bIns="0" rtlCol="0" anchor="t">
            <a:spAutoFit/>
          </a:bodyPr>
          <a:lstStyle/>
          <a:p>
            <a:pPr algn="l">
              <a:lnSpc>
                <a:spcPts val="2312"/>
              </a:lnSpc>
            </a:pPr>
            <a:r>
              <a:rPr lang="en-US" sz="1437" b="1">
                <a:solidFill>
                  <a:srgbClr val="464646"/>
                </a:solidFill>
                <a:latin typeface="Inter Medium"/>
                <a:ea typeface="Inter Medium"/>
                <a:cs typeface="Inter Medium"/>
                <a:sym typeface="Inter Medium"/>
              </a:rPr>
              <a:t>By analyzing these interconnected data points, we can paint a detailed picture of Instagram usage, uncover trends, and identify actionable opportunities for enhancing user experience and content strategy.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sp>
        <p:nvSpPr>
          <p:cNvPr id="6" name="TextBox 6"/>
          <p:cNvSpPr txBox="1"/>
          <p:nvPr/>
        </p:nvSpPr>
        <p:spPr>
          <a:xfrm>
            <a:off x="992238" y="997149"/>
            <a:ext cx="11486555" cy="693092"/>
          </a:xfrm>
          <a:prstGeom prst="rect">
            <a:avLst/>
          </a:prstGeom>
        </p:spPr>
        <p:txBody>
          <a:bodyPr lIns="0" tIns="0" rIns="0" bIns="0" rtlCol="0" anchor="t">
            <a:spAutoFit/>
          </a:bodyPr>
          <a:lstStyle/>
          <a:p>
            <a:pPr algn="l">
              <a:lnSpc>
                <a:spcPts val="5187"/>
              </a:lnSpc>
            </a:pPr>
            <a:r>
              <a:rPr lang="en-US" sz="4124" b="1">
                <a:solidFill>
                  <a:srgbClr val="030303"/>
                </a:solidFill>
                <a:latin typeface="DM Sans Bold"/>
                <a:ea typeface="DM Sans Bold"/>
                <a:cs typeface="DM Sans Bold"/>
                <a:sym typeface="DM Sans Bold"/>
              </a:rPr>
              <a:t>Data Preparation: Building a Solid Foundation</a:t>
            </a:r>
          </a:p>
        </p:txBody>
      </p:sp>
      <p:sp>
        <p:nvSpPr>
          <p:cNvPr id="7" name="TextBox 7"/>
          <p:cNvSpPr txBox="1"/>
          <p:nvPr/>
        </p:nvSpPr>
        <p:spPr>
          <a:xfrm>
            <a:off x="992238" y="2039243"/>
            <a:ext cx="16303526" cy="756642"/>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Before diving into insights, rigorous data preparation ensures our analysis is built on a solid, reliable foundation. Here’s how we meticulously prepared our Instagram dataset for accurate and meaningful discoveries:</a:t>
            </a:r>
          </a:p>
        </p:txBody>
      </p:sp>
      <p:grpSp>
        <p:nvGrpSpPr>
          <p:cNvPr id="8" name="Group 8"/>
          <p:cNvGrpSpPr/>
          <p:nvPr/>
        </p:nvGrpSpPr>
        <p:grpSpPr>
          <a:xfrm>
            <a:off x="1311176" y="3566666"/>
            <a:ext cx="7726412" cy="212526"/>
            <a:chOff x="0" y="0"/>
            <a:chExt cx="10301883" cy="283368"/>
          </a:xfrm>
        </p:grpSpPr>
        <p:sp>
          <p:nvSpPr>
            <p:cNvPr id="9" name="Freeform 9"/>
            <p:cNvSpPr/>
            <p:nvPr/>
          </p:nvSpPr>
          <p:spPr>
            <a:xfrm>
              <a:off x="0" y="0"/>
              <a:ext cx="10301859" cy="283337"/>
            </a:xfrm>
            <a:custGeom>
              <a:avLst/>
              <a:gdLst/>
              <a:ahLst/>
              <a:cxnLst/>
              <a:rect l="l" t="t" r="r" b="b"/>
              <a:pathLst>
                <a:path w="10301859" h="283337">
                  <a:moveTo>
                    <a:pt x="0" y="42545"/>
                  </a:moveTo>
                  <a:cubicBezTo>
                    <a:pt x="0" y="19050"/>
                    <a:pt x="19050" y="0"/>
                    <a:pt x="42545" y="0"/>
                  </a:cubicBezTo>
                  <a:lnTo>
                    <a:pt x="10259314" y="0"/>
                  </a:lnTo>
                  <a:cubicBezTo>
                    <a:pt x="10282809" y="0"/>
                    <a:pt x="10301859" y="19050"/>
                    <a:pt x="10301859" y="42545"/>
                  </a:cubicBezTo>
                  <a:lnTo>
                    <a:pt x="10301859" y="240792"/>
                  </a:lnTo>
                  <a:cubicBezTo>
                    <a:pt x="10301859" y="264287"/>
                    <a:pt x="10282809" y="283337"/>
                    <a:pt x="10259314" y="283337"/>
                  </a:cubicBezTo>
                  <a:lnTo>
                    <a:pt x="42545" y="283337"/>
                  </a:lnTo>
                  <a:cubicBezTo>
                    <a:pt x="19050" y="283337"/>
                    <a:pt x="0" y="264287"/>
                    <a:pt x="0" y="240792"/>
                  </a:cubicBezTo>
                  <a:close/>
                </a:path>
              </a:pathLst>
            </a:custGeom>
            <a:solidFill>
              <a:srgbClr val="F2EEEE"/>
            </a:solidFill>
          </p:spPr>
          <p:txBody>
            <a:bodyPr/>
            <a:lstStyle/>
            <a:p>
              <a:endParaRPr lang="en-IN"/>
            </a:p>
          </p:txBody>
        </p:sp>
      </p:grpSp>
      <p:grpSp>
        <p:nvGrpSpPr>
          <p:cNvPr id="10" name="Group 10"/>
          <p:cNvGrpSpPr/>
          <p:nvPr/>
        </p:nvGrpSpPr>
        <p:grpSpPr>
          <a:xfrm>
            <a:off x="992238" y="3353990"/>
            <a:ext cx="637878" cy="637878"/>
            <a:chOff x="0" y="0"/>
            <a:chExt cx="850503" cy="850503"/>
          </a:xfrm>
        </p:grpSpPr>
        <p:sp>
          <p:nvSpPr>
            <p:cNvPr id="11" name="Freeform 11"/>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F2EEEE"/>
            </a:solidFill>
          </p:spPr>
          <p:txBody>
            <a:bodyPr/>
            <a:lstStyle/>
            <a:p>
              <a:endParaRPr lang="en-IN"/>
            </a:p>
          </p:txBody>
        </p:sp>
      </p:grpSp>
      <p:sp>
        <p:nvSpPr>
          <p:cNvPr id="12" name="Freeform 12" descr="preencoded.png"/>
          <p:cNvSpPr/>
          <p:nvPr/>
        </p:nvSpPr>
        <p:spPr>
          <a:xfrm>
            <a:off x="1151632" y="3513535"/>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TextBox 13"/>
          <p:cNvSpPr txBox="1"/>
          <p:nvPr/>
        </p:nvSpPr>
        <p:spPr>
          <a:xfrm>
            <a:off x="1204764" y="4194870"/>
            <a:ext cx="3380334" cy="341709"/>
          </a:xfrm>
          <a:prstGeom prst="rect">
            <a:avLst/>
          </a:prstGeom>
        </p:spPr>
        <p:txBody>
          <a:bodyPr lIns="0" tIns="0" rIns="0" bIns="0" rtlCol="0" anchor="t">
            <a:spAutoFit/>
          </a:bodyPr>
          <a:lstStyle/>
          <a:p>
            <a:pPr algn="l">
              <a:lnSpc>
                <a:spcPts val="2562"/>
              </a:lnSpc>
            </a:pPr>
            <a:r>
              <a:rPr lang="en-US" sz="2062" b="1">
                <a:solidFill>
                  <a:srgbClr val="464646"/>
                </a:solidFill>
                <a:latin typeface="DM Sans Bold"/>
                <a:ea typeface="DM Sans Bold"/>
                <a:cs typeface="DM Sans Bold"/>
                <a:sym typeface="DM Sans Bold"/>
              </a:rPr>
              <a:t>Setting Up Our Workspace</a:t>
            </a:r>
          </a:p>
        </p:txBody>
      </p:sp>
      <p:sp>
        <p:nvSpPr>
          <p:cNvPr id="14" name="TextBox 14"/>
          <p:cNvSpPr txBox="1"/>
          <p:nvPr/>
        </p:nvSpPr>
        <p:spPr>
          <a:xfrm>
            <a:off x="1204764" y="4587925"/>
            <a:ext cx="7620446" cy="785217"/>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We began by importing essential libraries like </a:t>
            </a:r>
            <a:r>
              <a:rPr lang="en-US" sz="1625">
                <a:solidFill>
                  <a:srgbClr val="464646"/>
                </a:solidFill>
                <a:latin typeface="Inter"/>
                <a:ea typeface="Inter"/>
                <a:cs typeface="Inter"/>
                <a:sym typeface="Inter"/>
              </a:rPr>
              <a:t>pandas</a:t>
            </a:r>
            <a:r>
              <a:rPr lang="en-US" sz="1625" b="1">
                <a:solidFill>
                  <a:srgbClr val="464646"/>
                </a:solidFill>
                <a:latin typeface="Inter Medium"/>
                <a:ea typeface="Inter Medium"/>
                <a:cs typeface="Inter Medium"/>
                <a:sym typeface="Inter Medium"/>
              </a:rPr>
              <a:t> and </a:t>
            </a:r>
            <a:r>
              <a:rPr lang="en-US" sz="1625">
                <a:solidFill>
                  <a:srgbClr val="464646"/>
                </a:solidFill>
                <a:latin typeface="Inter"/>
                <a:ea typeface="Inter"/>
                <a:cs typeface="Inter"/>
                <a:sym typeface="Inter"/>
              </a:rPr>
              <a:t>numpy</a:t>
            </a:r>
            <a:r>
              <a:rPr lang="en-US" sz="1625" b="1">
                <a:solidFill>
                  <a:srgbClr val="464646"/>
                </a:solidFill>
                <a:latin typeface="Inter Medium"/>
                <a:ea typeface="Inter Medium"/>
                <a:cs typeface="Inter Medium"/>
                <a:sym typeface="Inter Medium"/>
              </a:rPr>
              <a:t> to handle and process the data effectively.</a:t>
            </a:r>
          </a:p>
        </p:txBody>
      </p:sp>
      <p:grpSp>
        <p:nvGrpSpPr>
          <p:cNvPr id="15" name="Group 15"/>
          <p:cNvGrpSpPr/>
          <p:nvPr/>
        </p:nvGrpSpPr>
        <p:grpSpPr>
          <a:xfrm>
            <a:off x="9569202" y="3247727"/>
            <a:ext cx="7726412" cy="212526"/>
            <a:chOff x="0" y="0"/>
            <a:chExt cx="10301883" cy="283368"/>
          </a:xfrm>
        </p:grpSpPr>
        <p:sp>
          <p:nvSpPr>
            <p:cNvPr id="16" name="Freeform 16"/>
            <p:cNvSpPr/>
            <p:nvPr/>
          </p:nvSpPr>
          <p:spPr>
            <a:xfrm>
              <a:off x="0" y="0"/>
              <a:ext cx="10301859" cy="283337"/>
            </a:xfrm>
            <a:custGeom>
              <a:avLst/>
              <a:gdLst/>
              <a:ahLst/>
              <a:cxnLst/>
              <a:rect l="l" t="t" r="r" b="b"/>
              <a:pathLst>
                <a:path w="10301859" h="283337">
                  <a:moveTo>
                    <a:pt x="0" y="42545"/>
                  </a:moveTo>
                  <a:cubicBezTo>
                    <a:pt x="0" y="19050"/>
                    <a:pt x="19050" y="0"/>
                    <a:pt x="42545" y="0"/>
                  </a:cubicBezTo>
                  <a:lnTo>
                    <a:pt x="10259314" y="0"/>
                  </a:lnTo>
                  <a:cubicBezTo>
                    <a:pt x="10282809" y="0"/>
                    <a:pt x="10301859" y="19050"/>
                    <a:pt x="10301859" y="42545"/>
                  </a:cubicBezTo>
                  <a:lnTo>
                    <a:pt x="10301859" y="240792"/>
                  </a:lnTo>
                  <a:cubicBezTo>
                    <a:pt x="10301859" y="264287"/>
                    <a:pt x="10282809" y="283337"/>
                    <a:pt x="10259314" y="283337"/>
                  </a:cubicBezTo>
                  <a:lnTo>
                    <a:pt x="42545" y="283337"/>
                  </a:lnTo>
                  <a:cubicBezTo>
                    <a:pt x="19050" y="283337"/>
                    <a:pt x="0" y="264287"/>
                    <a:pt x="0" y="240792"/>
                  </a:cubicBezTo>
                  <a:close/>
                </a:path>
              </a:pathLst>
            </a:custGeom>
            <a:solidFill>
              <a:srgbClr val="F2EEEE"/>
            </a:solidFill>
          </p:spPr>
          <p:txBody>
            <a:bodyPr/>
            <a:lstStyle/>
            <a:p>
              <a:endParaRPr lang="en-IN"/>
            </a:p>
          </p:txBody>
        </p:sp>
      </p:grpSp>
      <p:grpSp>
        <p:nvGrpSpPr>
          <p:cNvPr id="17" name="Group 17"/>
          <p:cNvGrpSpPr/>
          <p:nvPr/>
        </p:nvGrpSpPr>
        <p:grpSpPr>
          <a:xfrm>
            <a:off x="9250264" y="3035052"/>
            <a:ext cx="637878" cy="637878"/>
            <a:chOff x="0" y="0"/>
            <a:chExt cx="850503" cy="850503"/>
          </a:xfrm>
        </p:grpSpPr>
        <p:sp>
          <p:nvSpPr>
            <p:cNvPr id="18" name="Freeform 18"/>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F2EEEE"/>
            </a:solidFill>
          </p:spPr>
          <p:txBody>
            <a:bodyPr/>
            <a:lstStyle/>
            <a:p>
              <a:endParaRPr lang="en-IN"/>
            </a:p>
          </p:txBody>
        </p:sp>
      </p:grpSp>
      <p:sp>
        <p:nvSpPr>
          <p:cNvPr id="19" name="Freeform 19" descr="preencoded.png"/>
          <p:cNvSpPr/>
          <p:nvPr/>
        </p:nvSpPr>
        <p:spPr>
          <a:xfrm>
            <a:off x="9409659" y="3194596"/>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0" name="TextBox 20"/>
          <p:cNvSpPr txBox="1"/>
          <p:nvPr/>
        </p:nvSpPr>
        <p:spPr>
          <a:xfrm>
            <a:off x="9462790" y="3875931"/>
            <a:ext cx="3524101" cy="341709"/>
          </a:xfrm>
          <a:prstGeom prst="rect">
            <a:avLst/>
          </a:prstGeom>
        </p:spPr>
        <p:txBody>
          <a:bodyPr lIns="0" tIns="0" rIns="0" bIns="0" rtlCol="0" anchor="t">
            <a:spAutoFit/>
          </a:bodyPr>
          <a:lstStyle/>
          <a:p>
            <a:pPr algn="l">
              <a:lnSpc>
                <a:spcPts val="2562"/>
              </a:lnSpc>
            </a:pPr>
            <a:r>
              <a:rPr lang="en-US" sz="2062" b="1">
                <a:solidFill>
                  <a:srgbClr val="464646"/>
                </a:solidFill>
                <a:latin typeface="DM Sans Bold"/>
                <a:ea typeface="DM Sans Bold"/>
                <a:cs typeface="DM Sans Bold"/>
                <a:sym typeface="DM Sans Bold"/>
              </a:rPr>
              <a:t>Loading the Instagram Data</a:t>
            </a:r>
          </a:p>
        </p:txBody>
      </p:sp>
      <p:sp>
        <p:nvSpPr>
          <p:cNvPr id="21" name="TextBox 21"/>
          <p:cNvSpPr txBox="1"/>
          <p:nvPr/>
        </p:nvSpPr>
        <p:spPr>
          <a:xfrm>
            <a:off x="9462790" y="4268986"/>
            <a:ext cx="7620446" cy="756643"/>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The raw Instagram dataset was then loaded into our environment, forming the foundational input for our analysis.</a:t>
            </a:r>
          </a:p>
        </p:txBody>
      </p:sp>
      <p:grpSp>
        <p:nvGrpSpPr>
          <p:cNvPr id="22" name="Group 22"/>
          <p:cNvGrpSpPr/>
          <p:nvPr/>
        </p:nvGrpSpPr>
        <p:grpSpPr>
          <a:xfrm>
            <a:off x="1311176" y="6329809"/>
            <a:ext cx="7726412" cy="212526"/>
            <a:chOff x="0" y="0"/>
            <a:chExt cx="10301883" cy="283368"/>
          </a:xfrm>
        </p:grpSpPr>
        <p:sp>
          <p:nvSpPr>
            <p:cNvPr id="23" name="Freeform 23"/>
            <p:cNvSpPr/>
            <p:nvPr/>
          </p:nvSpPr>
          <p:spPr>
            <a:xfrm>
              <a:off x="0" y="0"/>
              <a:ext cx="10301859" cy="283337"/>
            </a:xfrm>
            <a:custGeom>
              <a:avLst/>
              <a:gdLst/>
              <a:ahLst/>
              <a:cxnLst/>
              <a:rect l="l" t="t" r="r" b="b"/>
              <a:pathLst>
                <a:path w="10301859" h="283337">
                  <a:moveTo>
                    <a:pt x="0" y="42545"/>
                  </a:moveTo>
                  <a:cubicBezTo>
                    <a:pt x="0" y="19050"/>
                    <a:pt x="19050" y="0"/>
                    <a:pt x="42545" y="0"/>
                  </a:cubicBezTo>
                  <a:lnTo>
                    <a:pt x="10259314" y="0"/>
                  </a:lnTo>
                  <a:cubicBezTo>
                    <a:pt x="10282809" y="0"/>
                    <a:pt x="10301859" y="19050"/>
                    <a:pt x="10301859" y="42545"/>
                  </a:cubicBezTo>
                  <a:lnTo>
                    <a:pt x="10301859" y="240792"/>
                  </a:lnTo>
                  <a:cubicBezTo>
                    <a:pt x="10301859" y="264287"/>
                    <a:pt x="10282809" y="283337"/>
                    <a:pt x="10259314" y="283337"/>
                  </a:cubicBezTo>
                  <a:lnTo>
                    <a:pt x="42545" y="283337"/>
                  </a:lnTo>
                  <a:cubicBezTo>
                    <a:pt x="19050" y="283337"/>
                    <a:pt x="0" y="264287"/>
                    <a:pt x="0" y="240792"/>
                  </a:cubicBezTo>
                  <a:close/>
                </a:path>
              </a:pathLst>
            </a:custGeom>
            <a:solidFill>
              <a:srgbClr val="F2EEEE"/>
            </a:solidFill>
          </p:spPr>
          <p:txBody>
            <a:bodyPr/>
            <a:lstStyle/>
            <a:p>
              <a:endParaRPr lang="en-IN"/>
            </a:p>
          </p:txBody>
        </p:sp>
      </p:grpSp>
      <p:grpSp>
        <p:nvGrpSpPr>
          <p:cNvPr id="24" name="Group 24"/>
          <p:cNvGrpSpPr/>
          <p:nvPr/>
        </p:nvGrpSpPr>
        <p:grpSpPr>
          <a:xfrm>
            <a:off x="992238" y="6117134"/>
            <a:ext cx="637878" cy="637877"/>
            <a:chOff x="0" y="0"/>
            <a:chExt cx="850503" cy="850503"/>
          </a:xfrm>
        </p:grpSpPr>
        <p:sp>
          <p:nvSpPr>
            <p:cNvPr id="25" name="Freeform 25"/>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F2EEEE"/>
            </a:solidFill>
          </p:spPr>
          <p:txBody>
            <a:bodyPr/>
            <a:lstStyle/>
            <a:p>
              <a:endParaRPr lang="en-IN"/>
            </a:p>
          </p:txBody>
        </p:sp>
      </p:grpSp>
      <p:sp>
        <p:nvSpPr>
          <p:cNvPr id="26" name="Freeform 26" descr="preencoded.png"/>
          <p:cNvSpPr/>
          <p:nvPr/>
        </p:nvSpPr>
        <p:spPr>
          <a:xfrm>
            <a:off x="1151632" y="6276677"/>
            <a:ext cx="318939" cy="318939"/>
          </a:xfrm>
          <a:custGeom>
            <a:avLst/>
            <a:gdLst/>
            <a:ahLst/>
            <a:cxnLst/>
            <a:rect l="l" t="t" r="r" b="b"/>
            <a:pathLst>
              <a:path w="318939" h="318939">
                <a:moveTo>
                  <a:pt x="0" y="0"/>
                </a:moveTo>
                <a:lnTo>
                  <a:pt x="318939" y="0"/>
                </a:lnTo>
                <a:lnTo>
                  <a:pt x="318939" y="318939"/>
                </a:lnTo>
                <a:lnTo>
                  <a:pt x="0" y="318939"/>
                </a:lnTo>
                <a:lnTo>
                  <a:pt x="0" y="0"/>
                </a:lnTo>
                <a:close/>
              </a:path>
            </a:pathLst>
          </a:custGeom>
          <a:blipFill>
            <a:blip r:embed="rId7">
              <a:extLst>
                <a:ext uri="{96DAC541-7B7A-43D3-8B79-37D633B846F1}">
                  <asvg:svgBlip xmlns:asvg="http://schemas.microsoft.com/office/drawing/2016/SVG/main" r:embed="rId8"/>
                </a:ext>
              </a:extLst>
            </a:blip>
            <a:stretch>
              <a:fillRect t="-2941" b="-2941"/>
            </a:stretch>
          </a:blipFill>
        </p:spPr>
        <p:txBody>
          <a:bodyPr/>
          <a:lstStyle/>
          <a:p>
            <a:endParaRPr lang="en-IN"/>
          </a:p>
        </p:txBody>
      </p:sp>
      <p:sp>
        <p:nvSpPr>
          <p:cNvPr id="27" name="TextBox 27"/>
          <p:cNvSpPr txBox="1"/>
          <p:nvPr/>
        </p:nvSpPr>
        <p:spPr>
          <a:xfrm>
            <a:off x="1204764" y="6958012"/>
            <a:ext cx="2762101" cy="341709"/>
          </a:xfrm>
          <a:prstGeom prst="rect">
            <a:avLst/>
          </a:prstGeom>
        </p:spPr>
        <p:txBody>
          <a:bodyPr lIns="0" tIns="0" rIns="0" bIns="0" rtlCol="0" anchor="t">
            <a:spAutoFit/>
          </a:bodyPr>
          <a:lstStyle/>
          <a:p>
            <a:pPr algn="l">
              <a:lnSpc>
                <a:spcPts val="2562"/>
              </a:lnSpc>
            </a:pPr>
            <a:r>
              <a:rPr lang="en-US" sz="2062" b="1">
                <a:solidFill>
                  <a:srgbClr val="464646"/>
                </a:solidFill>
                <a:latin typeface="DM Sans Bold"/>
                <a:ea typeface="DM Sans Bold"/>
                <a:cs typeface="DM Sans Bold"/>
                <a:sym typeface="DM Sans Bold"/>
              </a:rPr>
              <a:t>Ensuring Data Quality</a:t>
            </a:r>
          </a:p>
        </p:txBody>
      </p:sp>
      <p:sp>
        <p:nvSpPr>
          <p:cNvPr id="28" name="TextBox 28"/>
          <p:cNvSpPr txBox="1"/>
          <p:nvPr/>
        </p:nvSpPr>
        <p:spPr>
          <a:xfrm>
            <a:off x="1204764" y="7351067"/>
            <a:ext cx="7620446" cy="756642"/>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Duplicate entries within the dataset were identified and removed to guarantee the accuracy and integrity of our insights.</a:t>
            </a:r>
          </a:p>
        </p:txBody>
      </p:sp>
      <p:grpSp>
        <p:nvGrpSpPr>
          <p:cNvPr id="29" name="Group 29"/>
          <p:cNvGrpSpPr/>
          <p:nvPr/>
        </p:nvGrpSpPr>
        <p:grpSpPr>
          <a:xfrm>
            <a:off x="9569202" y="6010870"/>
            <a:ext cx="7726412" cy="212526"/>
            <a:chOff x="0" y="0"/>
            <a:chExt cx="10301883" cy="283368"/>
          </a:xfrm>
        </p:grpSpPr>
        <p:sp>
          <p:nvSpPr>
            <p:cNvPr id="30" name="Freeform 30"/>
            <p:cNvSpPr/>
            <p:nvPr/>
          </p:nvSpPr>
          <p:spPr>
            <a:xfrm>
              <a:off x="0" y="0"/>
              <a:ext cx="10301859" cy="283337"/>
            </a:xfrm>
            <a:custGeom>
              <a:avLst/>
              <a:gdLst/>
              <a:ahLst/>
              <a:cxnLst/>
              <a:rect l="l" t="t" r="r" b="b"/>
              <a:pathLst>
                <a:path w="10301859" h="283337">
                  <a:moveTo>
                    <a:pt x="0" y="42545"/>
                  </a:moveTo>
                  <a:cubicBezTo>
                    <a:pt x="0" y="19050"/>
                    <a:pt x="19050" y="0"/>
                    <a:pt x="42545" y="0"/>
                  </a:cubicBezTo>
                  <a:lnTo>
                    <a:pt x="10259314" y="0"/>
                  </a:lnTo>
                  <a:cubicBezTo>
                    <a:pt x="10282809" y="0"/>
                    <a:pt x="10301859" y="19050"/>
                    <a:pt x="10301859" y="42545"/>
                  </a:cubicBezTo>
                  <a:lnTo>
                    <a:pt x="10301859" y="240792"/>
                  </a:lnTo>
                  <a:cubicBezTo>
                    <a:pt x="10301859" y="264287"/>
                    <a:pt x="10282809" y="283337"/>
                    <a:pt x="10259314" y="283337"/>
                  </a:cubicBezTo>
                  <a:lnTo>
                    <a:pt x="42545" y="283337"/>
                  </a:lnTo>
                  <a:cubicBezTo>
                    <a:pt x="19050" y="283337"/>
                    <a:pt x="0" y="264287"/>
                    <a:pt x="0" y="240792"/>
                  </a:cubicBezTo>
                  <a:close/>
                </a:path>
              </a:pathLst>
            </a:custGeom>
            <a:solidFill>
              <a:srgbClr val="F2EEEE"/>
            </a:solidFill>
          </p:spPr>
          <p:txBody>
            <a:bodyPr/>
            <a:lstStyle/>
            <a:p>
              <a:endParaRPr lang="en-IN"/>
            </a:p>
          </p:txBody>
        </p:sp>
      </p:grpSp>
      <p:grpSp>
        <p:nvGrpSpPr>
          <p:cNvPr id="31" name="Group 31"/>
          <p:cNvGrpSpPr/>
          <p:nvPr/>
        </p:nvGrpSpPr>
        <p:grpSpPr>
          <a:xfrm>
            <a:off x="9250264" y="5798195"/>
            <a:ext cx="637878" cy="637877"/>
            <a:chOff x="0" y="0"/>
            <a:chExt cx="850503" cy="850503"/>
          </a:xfrm>
        </p:grpSpPr>
        <p:sp>
          <p:nvSpPr>
            <p:cNvPr id="32" name="Freeform 32"/>
            <p:cNvSpPr/>
            <p:nvPr/>
          </p:nvSpPr>
          <p:spPr>
            <a:xfrm>
              <a:off x="0" y="0"/>
              <a:ext cx="850519" cy="850519"/>
            </a:xfrm>
            <a:custGeom>
              <a:avLst/>
              <a:gdLst/>
              <a:ahLst/>
              <a:cxnLst/>
              <a:rect l="l" t="t" r="r" b="b"/>
              <a:pathLst>
                <a:path w="850519" h="850519">
                  <a:moveTo>
                    <a:pt x="0" y="425196"/>
                  </a:moveTo>
                  <a:cubicBezTo>
                    <a:pt x="0" y="190373"/>
                    <a:pt x="190373" y="0"/>
                    <a:pt x="425196" y="0"/>
                  </a:cubicBezTo>
                  <a:cubicBezTo>
                    <a:pt x="660019" y="0"/>
                    <a:pt x="850519" y="190373"/>
                    <a:pt x="850519" y="425196"/>
                  </a:cubicBezTo>
                  <a:cubicBezTo>
                    <a:pt x="850519" y="660019"/>
                    <a:pt x="660146" y="850519"/>
                    <a:pt x="425196" y="850519"/>
                  </a:cubicBezTo>
                  <a:cubicBezTo>
                    <a:pt x="190246" y="850519"/>
                    <a:pt x="0" y="660146"/>
                    <a:pt x="0" y="425196"/>
                  </a:cubicBezTo>
                  <a:close/>
                </a:path>
              </a:pathLst>
            </a:custGeom>
            <a:solidFill>
              <a:srgbClr val="F2EEEE"/>
            </a:solidFill>
          </p:spPr>
          <p:txBody>
            <a:bodyPr/>
            <a:lstStyle/>
            <a:p>
              <a:endParaRPr lang="en-IN"/>
            </a:p>
          </p:txBody>
        </p:sp>
      </p:grpSp>
      <p:sp>
        <p:nvSpPr>
          <p:cNvPr id="33" name="Freeform 33" descr="preencoded.png"/>
          <p:cNvSpPr/>
          <p:nvPr/>
        </p:nvSpPr>
        <p:spPr>
          <a:xfrm>
            <a:off x="9409659" y="5957739"/>
            <a:ext cx="318939" cy="318939"/>
          </a:xfrm>
          <a:custGeom>
            <a:avLst/>
            <a:gdLst/>
            <a:ahLst/>
            <a:cxnLst/>
            <a:rect l="l" t="t" r="r" b="b"/>
            <a:pathLst>
              <a:path w="318939" h="318939">
                <a:moveTo>
                  <a:pt x="0" y="0"/>
                </a:moveTo>
                <a:lnTo>
                  <a:pt x="318939" y="0"/>
                </a:lnTo>
                <a:lnTo>
                  <a:pt x="318939" y="318938"/>
                </a:lnTo>
                <a:lnTo>
                  <a:pt x="0" y="3189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34" name="TextBox 34"/>
          <p:cNvSpPr txBox="1"/>
          <p:nvPr/>
        </p:nvSpPr>
        <p:spPr>
          <a:xfrm>
            <a:off x="9462790" y="6639074"/>
            <a:ext cx="3451771" cy="341709"/>
          </a:xfrm>
          <a:prstGeom prst="rect">
            <a:avLst/>
          </a:prstGeom>
        </p:spPr>
        <p:txBody>
          <a:bodyPr lIns="0" tIns="0" rIns="0" bIns="0" rtlCol="0" anchor="t">
            <a:spAutoFit/>
          </a:bodyPr>
          <a:lstStyle/>
          <a:p>
            <a:pPr algn="l">
              <a:lnSpc>
                <a:spcPts val="2562"/>
              </a:lnSpc>
            </a:pPr>
            <a:r>
              <a:rPr lang="en-US" sz="2062" b="1">
                <a:solidFill>
                  <a:srgbClr val="464646"/>
                </a:solidFill>
                <a:latin typeface="DM Sans Bold"/>
                <a:ea typeface="DM Sans Bold"/>
                <a:cs typeface="DM Sans Bold"/>
                <a:sym typeface="DM Sans Bold"/>
              </a:rPr>
              <a:t>Preparing Data for Analysis</a:t>
            </a:r>
          </a:p>
        </p:txBody>
      </p:sp>
      <p:sp>
        <p:nvSpPr>
          <p:cNvPr id="35" name="TextBox 35"/>
          <p:cNvSpPr txBox="1"/>
          <p:nvPr/>
        </p:nvSpPr>
        <p:spPr>
          <a:xfrm>
            <a:off x="9462790" y="7032129"/>
            <a:ext cx="7620446" cy="1096864"/>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Categorical information, such as user gender, was converted into a numerical format, making it ready for advanced statistical analysis and modeling.</a:t>
            </a:r>
          </a:p>
        </p:txBody>
      </p:sp>
      <p:sp>
        <p:nvSpPr>
          <p:cNvPr id="36" name="TextBox 36"/>
          <p:cNvSpPr txBox="1"/>
          <p:nvPr/>
        </p:nvSpPr>
        <p:spPr>
          <a:xfrm>
            <a:off x="992238" y="8504485"/>
            <a:ext cx="16303526" cy="756642"/>
          </a:xfrm>
          <a:prstGeom prst="rect">
            <a:avLst/>
          </a:prstGeom>
        </p:spPr>
        <p:txBody>
          <a:bodyPr lIns="0" tIns="0" rIns="0" bIns="0" rtlCol="0" anchor="t">
            <a:spAutoFit/>
          </a:bodyPr>
          <a:lstStyle/>
          <a:p>
            <a:pPr algn="l">
              <a:lnSpc>
                <a:spcPts val="2625"/>
              </a:lnSpc>
            </a:pPr>
            <a:r>
              <a:rPr lang="en-US" sz="1625" b="1">
                <a:solidFill>
                  <a:srgbClr val="464646"/>
                </a:solidFill>
                <a:latin typeface="Inter Medium"/>
                <a:ea typeface="Inter Medium"/>
                <a:cs typeface="Inter Medium"/>
                <a:sym typeface="Inter Medium"/>
              </a:rPr>
              <a:t>These crucial preparation steps ensure our dataset is clean, accurate, and optimized for extracting meaningful insights into Instagram engagement and user behavior.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sp>
        <p:nvSpPr>
          <p:cNvPr id="6" name="TextBox 6"/>
          <p:cNvSpPr txBox="1"/>
          <p:nvPr/>
        </p:nvSpPr>
        <p:spPr>
          <a:xfrm>
            <a:off x="992238" y="1115466"/>
            <a:ext cx="14087178" cy="727770"/>
          </a:xfrm>
          <a:prstGeom prst="rect">
            <a:avLst/>
          </a:prstGeom>
        </p:spPr>
        <p:txBody>
          <a:bodyPr lIns="0" tIns="0" rIns="0" bIns="0" rtlCol="0" anchor="t">
            <a:spAutoFit/>
          </a:bodyPr>
          <a:lstStyle/>
          <a:p>
            <a:pPr algn="l">
              <a:lnSpc>
                <a:spcPts val="5562"/>
              </a:lnSpc>
            </a:pPr>
            <a:r>
              <a:rPr lang="en-US" sz="4437" b="1">
                <a:solidFill>
                  <a:srgbClr val="030303"/>
                </a:solidFill>
                <a:latin typeface="DM Sans Bold"/>
                <a:ea typeface="DM Sans Bold"/>
                <a:cs typeface="DM Sans Bold"/>
                <a:sym typeface="DM Sans Bold"/>
              </a:rPr>
              <a:t>Exploring Instagram Data: Our Visualization Journey</a:t>
            </a:r>
          </a:p>
        </p:txBody>
      </p:sp>
      <p:grpSp>
        <p:nvGrpSpPr>
          <p:cNvPr id="7" name="Group 7"/>
          <p:cNvGrpSpPr/>
          <p:nvPr/>
        </p:nvGrpSpPr>
        <p:grpSpPr>
          <a:xfrm>
            <a:off x="977950" y="2282578"/>
            <a:ext cx="8066931" cy="3161556"/>
            <a:chOff x="0" y="0"/>
            <a:chExt cx="10755908" cy="4215408"/>
          </a:xfrm>
        </p:grpSpPr>
        <p:sp>
          <p:nvSpPr>
            <p:cNvPr id="8" name="Freeform 8"/>
            <p:cNvSpPr/>
            <p:nvPr/>
          </p:nvSpPr>
          <p:spPr>
            <a:xfrm>
              <a:off x="19050" y="19050"/>
              <a:ext cx="10717785" cy="4177284"/>
            </a:xfrm>
            <a:custGeom>
              <a:avLst/>
              <a:gdLst/>
              <a:ahLst/>
              <a:cxnLst/>
              <a:rect l="l" t="t" r="r" b="b"/>
              <a:pathLst>
                <a:path w="10717785" h="4177284">
                  <a:moveTo>
                    <a:pt x="0" y="45339"/>
                  </a:moveTo>
                  <a:cubicBezTo>
                    <a:pt x="0" y="20320"/>
                    <a:pt x="20447" y="0"/>
                    <a:pt x="45593" y="0"/>
                  </a:cubicBezTo>
                  <a:lnTo>
                    <a:pt x="10672191" y="0"/>
                  </a:lnTo>
                  <a:cubicBezTo>
                    <a:pt x="10697337" y="0"/>
                    <a:pt x="10717785" y="20320"/>
                    <a:pt x="10717785" y="45339"/>
                  </a:cubicBezTo>
                  <a:lnTo>
                    <a:pt x="10717785" y="4131945"/>
                  </a:lnTo>
                  <a:cubicBezTo>
                    <a:pt x="10717785" y="4156964"/>
                    <a:pt x="10697337" y="4177284"/>
                    <a:pt x="10672191" y="4177284"/>
                  </a:cubicBezTo>
                  <a:lnTo>
                    <a:pt x="45593" y="4177284"/>
                  </a:lnTo>
                  <a:cubicBezTo>
                    <a:pt x="20447" y="4177284"/>
                    <a:pt x="0" y="4156964"/>
                    <a:pt x="0" y="4131945"/>
                  </a:cubicBezTo>
                  <a:close/>
                </a:path>
              </a:pathLst>
            </a:custGeom>
            <a:solidFill>
              <a:srgbClr val="FFFFFF"/>
            </a:solidFill>
          </p:spPr>
          <p:txBody>
            <a:bodyPr/>
            <a:lstStyle/>
            <a:p>
              <a:endParaRPr lang="en-IN"/>
            </a:p>
          </p:txBody>
        </p:sp>
        <p:sp>
          <p:nvSpPr>
            <p:cNvPr id="9" name="Freeform 9"/>
            <p:cNvSpPr/>
            <p:nvPr/>
          </p:nvSpPr>
          <p:spPr>
            <a:xfrm>
              <a:off x="0" y="0"/>
              <a:ext cx="10755885" cy="4215384"/>
            </a:xfrm>
            <a:custGeom>
              <a:avLst/>
              <a:gdLst/>
              <a:ahLst/>
              <a:cxnLst/>
              <a:rect l="l" t="t" r="r" b="b"/>
              <a:pathLst>
                <a:path w="10755885" h="4215384">
                  <a:moveTo>
                    <a:pt x="0" y="64389"/>
                  </a:moveTo>
                  <a:cubicBezTo>
                    <a:pt x="0" y="28702"/>
                    <a:pt x="29083" y="0"/>
                    <a:pt x="64643" y="0"/>
                  </a:cubicBezTo>
                  <a:lnTo>
                    <a:pt x="10691241" y="0"/>
                  </a:lnTo>
                  <a:lnTo>
                    <a:pt x="10691241" y="19050"/>
                  </a:lnTo>
                  <a:lnTo>
                    <a:pt x="10691241" y="0"/>
                  </a:lnTo>
                  <a:cubicBezTo>
                    <a:pt x="10726801" y="0"/>
                    <a:pt x="10755885" y="28702"/>
                    <a:pt x="10755885" y="64389"/>
                  </a:cubicBezTo>
                  <a:lnTo>
                    <a:pt x="10736835" y="64389"/>
                  </a:lnTo>
                  <a:lnTo>
                    <a:pt x="10755885" y="64389"/>
                  </a:lnTo>
                  <a:lnTo>
                    <a:pt x="10755885" y="4150995"/>
                  </a:lnTo>
                  <a:lnTo>
                    <a:pt x="10736835" y="4150995"/>
                  </a:lnTo>
                  <a:lnTo>
                    <a:pt x="10755885" y="4150995"/>
                  </a:lnTo>
                  <a:cubicBezTo>
                    <a:pt x="10755885" y="4186682"/>
                    <a:pt x="10726801" y="4215384"/>
                    <a:pt x="10691241" y="4215384"/>
                  </a:cubicBezTo>
                  <a:lnTo>
                    <a:pt x="10691241" y="4196334"/>
                  </a:lnTo>
                  <a:lnTo>
                    <a:pt x="10691241" y="4215384"/>
                  </a:lnTo>
                  <a:lnTo>
                    <a:pt x="64643" y="4215384"/>
                  </a:lnTo>
                  <a:lnTo>
                    <a:pt x="64643" y="4196334"/>
                  </a:lnTo>
                  <a:lnTo>
                    <a:pt x="64643" y="4215384"/>
                  </a:lnTo>
                  <a:cubicBezTo>
                    <a:pt x="29083" y="4215384"/>
                    <a:pt x="0" y="4186682"/>
                    <a:pt x="0" y="4150995"/>
                  </a:cubicBezTo>
                  <a:lnTo>
                    <a:pt x="0" y="64389"/>
                  </a:lnTo>
                  <a:lnTo>
                    <a:pt x="19050" y="64389"/>
                  </a:lnTo>
                  <a:lnTo>
                    <a:pt x="0" y="64389"/>
                  </a:lnTo>
                  <a:moveTo>
                    <a:pt x="38100" y="64389"/>
                  </a:moveTo>
                  <a:lnTo>
                    <a:pt x="38100" y="4150995"/>
                  </a:lnTo>
                  <a:lnTo>
                    <a:pt x="19050" y="4150995"/>
                  </a:lnTo>
                  <a:lnTo>
                    <a:pt x="38100" y="4150995"/>
                  </a:lnTo>
                  <a:cubicBezTo>
                    <a:pt x="38100" y="4165473"/>
                    <a:pt x="49911" y="4177284"/>
                    <a:pt x="64643" y="4177284"/>
                  </a:cubicBezTo>
                  <a:lnTo>
                    <a:pt x="10691241" y="4177284"/>
                  </a:lnTo>
                  <a:cubicBezTo>
                    <a:pt x="10705973" y="4177284"/>
                    <a:pt x="10717785" y="4165346"/>
                    <a:pt x="10717785" y="4150995"/>
                  </a:cubicBezTo>
                  <a:lnTo>
                    <a:pt x="10717785" y="64389"/>
                  </a:lnTo>
                  <a:cubicBezTo>
                    <a:pt x="10717785" y="49911"/>
                    <a:pt x="10705973" y="38100"/>
                    <a:pt x="10691241" y="38100"/>
                  </a:cubicBezTo>
                  <a:lnTo>
                    <a:pt x="64643" y="38100"/>
                  </a:lnTo>
                  <a:lnTo>
                    <a:pt x="64643" y="19050"/>
                  </a:lnTo>
                  <a:lnTo>
                    <a:pt x="64643" y="38100"/>
                  </a:lnTo>
                  <a:cubicBezTo>
                    <a:pt x="49911" y="38100"/>
                    <a:pt x="38100" y="50038"/>
                    <a:pt x="38100" y="64389"/>
                  </a:cubicBezTo>
                  <a:close/>
                </a:path>
              </a:pathLst>
            </a:custGeom>
            <a:solidFill>
              <a:srgbClr val="D8D4D4"/>
            </a:solidFill>
          </p:spPr>
          <p:txBody>
            <a:bodyPr/>
            <a:lstStyle/>
            <a:p>
              <a:endParaRPr lang="en-IN"/>
            </a:p>
          </p:txBody>
        </p:sp>
      </p:grpSp>
      <p:grpSp>
        <p:nvGrpSpPr>
          <p:cNvPr id="10" name="Group 10"/>
          <p:cNvGrpSpPr/>
          <p:nvPr/>
        </p:nvGrpSpPr>
        <p:grpSpPr>
          <a:xfrm>
            <a:off x="1020812" y="2325440"/>
            <a:ext cx="7981206" cy="680443"/>
            <a:chOff x="0" y="0"/>
            <a:chExt cx="10641608" cy="907257"/>
          </a:xfrm>
        </p:grpSpPr>
        <p:sp>
          <p:nvSpPr>
            <p:cNvPr id="11" name="Freeform 11"/>
            <p:cNvSpPr/>
            <p:nvPr/>
          </p:nvSpPr>
          <p:spPr>
            <a:xfrm>
              <a:off x="0" y="0"/>
              <a:ext cx="10641584" cy="907288"/>
            </a:xfrm>
            <a:custGeom>
              <a:avLst/>
              <a:gdLst/>
              <a:ahLst/>
              <a:cxnLst/>
              <a:rect l="l" t="t" r="r" b="b"/>
              <a:pathLst>
                <a:path w="10641584" h="907288">
                  <a:moveTo>
                    <a:pt x="0" y="0"/>
                  </a:moveTo>
                  <a:lnTo>
                    <a:pt x="10641584" y="0"/>
                  </a:lnTo>
                  <a:lnTo>
                    <a:pt x="10641584" y="907288"/>
                  </a:lnTo>
                  <a:lnTo>
                    <a:pt x="0" y="907288"/>
                  </a:lnTo>
                  <a:close/>
                </a:path>
              </a:pathLst>
            </a:custGeom>
            <a:solidFill>
              <a:srgbClr val="F2EEEE"/>
            </a:solidFill>
          </p:spPr>
          <p:txBody>
            <a:bodyPr/>
            <a:lstStyle/>
            <a:p>
              <a:endParaRPr lang="en-IN"/>
            </a:p>
          </p:txBody>
        </p:sp>
      </p:grpSp>
      <p:sp>
        <p:nvSpPr>
          <p:cNvPr id="12" name="Freeform 12" descr="preencoded.png"/>
          <p:cNvSpPr/>
          <p:nvPr/>
        </p:nvSpPr>
        <p:spPr>
          <a:xfrm>
            <a:off x="4841230" y="2495401"/>
            <a:ext cx="340221" cy="340221"/>
          </a:xfrm>
          <a:custGeom>
            <a:avLst/>
            <a:gdLst/>
            <a:ahLst/>
            <a:cxnLst/>
            <a:rect l="l" t="t" r="r" b="b"/>
            <a:pathLst>
              <a:path w="340221" h="340221">
                <a:moveTo>
                  <a:pt x="0" y="0"/>
                </a:moveTo>
                <a:lnTo>
                  <a:pt x="340221" y="0"/>
                </a:lnTo>
                <a:lnTo>
                  <a:pt x="340221" y="340221"/>
                </a:lnTo>
                <a:lnTo>
                  <a:pt x="0" y="340221"/>
                </a:lnTo>
                <a:lnTo>
                  <a:pt x="0" y="0"/>
                </a:lnTo>
                <a:close/>
              </a:path>
            </a:pathLst>
          </a:custGeom>
          <a:blipFill>
            <a:blip r:embed="rId3">
              <a:extLst>
                <a:ext uri="{96DAC541-7B7A-43D3-8B79-37D633B846F1}">
                  <asvg:svgBlip xmlns:asvg="http://schemas.microsoft.com/office/drawing/2016/SVG/main" r:embed="rId4"/>
                </a:ext>
              </a:extLst>
            </a:blip>
            <a:stretch>
              <a:fillRect t="-2777" b="-2777"/>
            </a:stretch>
          </a:blipFill>
        </p:spPr>
        <p:txBody>
          <a:bodyPr/>
          <a:lstStyle/>
          <a:p>
            <a:endParaRPr lang="en-IN"/>
          </a:p>
        </p:txBody>
      </p:sp>
      <p:sp>
        <p:nvSpPr>
          <p:cNvPr id="13" name="TextBox 13"/>
          <p:cNvSpPr txBox="1"/>
          <p:nvPr/>
        </p:nvSpPr>
        <p:spPr>
          <a:xfrm>
            <a:off x="1247626" y="3213646"/>
            <a:ext cx="2835325" cy="373410"/>
          </a:xfrm>
          <a:prstGeom prst="rect">
            <a:avLst/>
          </a:prstGeom>
        </p:spPr>
        <p:txBody>
          <a:bodyPr lIns="0" tIns="0" rIns="0" bIns="0" rtlCol="0" anchor="t">
            <a:spAutoFit/>
          </a:bodyPr>
          <a:lstStyle/>
          <a:p>
            <a:pPr algn="l">
              <a:lnSpc>
                <a:spcPts val="2750"/>
              </a:lnSpc>
            </a:pPr>
            <a:r>
              <a:rPr lang="en-US" sz="2187" b="1">
                <a:solidFill>
                  <a:srgbClr val="464646"/>
                </a:solidFill>
                <a:latin typeface="DM Sans Bold"/>
                <a:ea typeface="DM Sans Bold"/>
                <a:cs typeface="DM Sans Bold"/>
                <a:sym typeface="DM Sans Bold"/>
              </a:rPr>
              <a:t>Gender Distribution</a:t>
            </a:r>
          </a:p>
        </p:txBody>
      </p:sp>
      <p:sp>
        <p:nvSpPr>
          <p:cNvPr id="14" name="TextBox 14"/>
          <p:cNvSpPr txBox="1"/>
          <p:nvPr/>
        </p:nvSpPr>
        <p:spPr>
          <a:xfrm>
            <a:off x="1247626" y="3646885"/>
            <a:ext cx="7527577" cy="1527573"/>
          </a:xfrm>
          <a:prstGeom prst="rect">
            <a:avLst/>
          </a:prstGeom>
        </p:spPr>
        <p:txBody>
          <a:bodyPr lIns="0" tIns="0" rIns="0" bIns="0" rtlCol="0" anchor="t">
            <a:spAutoFit/>
          </a:bodyPr>
          <a:lstStyle/>
          <a:p>
            <a:pPr algn="l">
              <a:lnSpc>
                <a:spcPts val="2812"/>
              </a:lnSpc>
            </a:pPr>
            <a:r>
              <a:rPr lang="en-US" sz="1750" b="1">
                <a:solidFill>
                  <a:srgbClr val="464646"/>
                </a:solidFill>
                <a:latin typeface="Inter Medium"/>
                <a:ea typeface="Inter Medium"/>
                <a:cs typeface="Inter Medium"/>
                <a:sym typeface="Inter Medium"/>
              </a:rPr>
              <a:t>A </a:t>
            </a:r>
            <a:r>
              <a:rPr lang="en-US" sz="1750" b="1">
                <a:solidFill>
                  <a:srgbClr val="464646"/>
                </a:solidFill>
                <a:latin typeface="Inter Bold"/>
                <a:ea typeface="Inter Bold"/>
                <a:cs typeface="Inter Bold"/>
                <a:sym typeface="Inter Bold"/>
              </a:rPr>
              <a:t>count plot</a:t>
            </a:r>
            <a:r>
              <a:rPr lang="en-US" sz="1750" b="1">
                <a:solidFill>
                  <a:srgbClr val="464646"/>
                </a:solidFill>
                <a:latin typeface="Inter Medium"/>
                <a:ea typeface="Inter Medium"/>
                <a:cs typeface="Inter Medium"/>
                <a:sym typeface="Inter Medium"/>
              </a:rPr>
              <a:t> allowed us to quickly understand the balance between male and female users. This visualization is crucial for tailoring content and marketing messages that resonate with our dominant demographic or identifying opportunities to diversify our reach.</a:t>
            </a:r>
          </a:p>
        </p:txBody>
      </p:sp>
      <p:grpSp>
        <p:nvGrpSpPr>
          <p:cNvPr id="15" name="Group 15"/>
          <p:cNvGrpSpPr/>
          <p:nvPr/>
        </p:nvGrpSpPr>
        <p:grpSpPr>
          <a:xfrm>
            <a:off x="9243120" y="2282578"/>
            <a:ext cx="8066931" cy="3161556"/>
            <a:chOff x="0" y="0"/>
            <a:chExt cx="10755908" cy="4215408"/>
          </a:xfrm>
        </p:grpSpPr>
        <p:sp>
          <p:nvSpPr>
            <p:cNvPr id="16" name="Freeform 16"/>
            <p:cNvSpPr/>
            <p:nvPr/>
          </p:nvSpPr>
          <p:spPr>
            <a:xfrm>
              <a:off x="19050" y="19050"/>
              <a:ext cx="10717785" cy="4177284"/>
            </a:xfrm>
            <a:custGeom>
              <a:avLst/>
              <a:gdLst/>
              <a:ahLst/>
              <a:cxnLst/>
              <a:rect l="l" t="t" r="r" b="b"/>
              <a:pathLst>
                <a:path w="10717785" h="4177284">
                  <a:moveTo>
                    <a:pt x="0" y="45339"/>
                  </a:moveTo>
                  <a:cubicBezTo>
                    <a:pt x="0" y="20320"/>
                    <a:pt x="20447" y="0"/>
                    <a:pt x="45593" y="0"/>
                  </a:cubicBezTo>
                  <a:lnTo>
                    <a:pt x="10672191" y="0"/>
                  </a:lnTo>
                  <a:cubicBezTo>
                    <a:pt x="10697337" y="0"/>
                    <a:pt x="10717785" y="20320"/>
                    <a:pt x="10717785" y="45339"/>
                  </a:cubicBezTo>
                  <a:lnTo>
                    <a:pt x="10717785" y="4131945"/>
                  </a:lnTo>
                  <a:cubicBezTo>
                    <a:pt x="10717785" y="4156964"/>
                    <a:pt x="10697337" y="4177284"/>
                    <a:pt x="10672191" y="4177284"/>
                  </a:cubicBezTo>
                  <a:lnTo>
                    <a:pt x="45593" y="4177284"/>
                  </a:lnTo>
                  <a:cubicBezTo>
                    <a:pt x="20447" y="4177284"/>
                    <a:pt x="0" y="4156964"/>
                    <a:pt x="0" y="4131945"/>
                  </a:cubicBezTo>
                  <a:close/>
                </a:path>
              </a:pathLst>
            </a:custGeom>
            <a:solidFill>
              <a:srgbClr val="FFFFFF"/>
            </a:solidFill>
          </p:spPr>
          <p:txBody>
            <a:bodyPr/>
            <a:lstStyle/>
            <a:p>
              <a:endParaRPr lang="en-IN"/>
            </a:p>
          </p:txBody>
        </p:sp>
        <p:sp>
          <p:nvSpPr>
            <p:cNvPr id="17" name="Freeform 17"/>
            <p:cNvSpPr/>
            <p:nvPr/>
          </p:nvSpPr>
          <p:spPr>
            <a:xfrm>
              <a:off x="0" y="0"/>
              <a:ext cx="10755885" cy="4215384"/>
            </a:xfrm>
            <a:custGeom>
              <a:avLst/>
              <a:gdLst/>
              <a:ahLst/>
              <a:cxnLst/>
              <a:rect l="l" t="t" r="r" b="b"/>
              <a:pathLst>
                <a:path w="10755885" h="4215384">
                  <a:moveTo>
                    <a:pt x="0" y="64389"/>
                  </a:moveTo>
                  <a:cubicBezTo>
                    <a:pt x="0" y="28702"/>
                    <a:pt x="29083" y="0"/>
                    <a:pt x="64643" y="0"/>
                  </a:cubicBezTo>
                  <a:lnTo>
                    <a:pt x="10691241" y="0"/>
                  </a:lnTo>
                  <a:lnTo>
                    <a:pt x="10691241" y="19050"/>
                  </a:lnTo>
                  <a:lnTo>
                    <a:pt x="10691241" y="0"/>
                  </a:lnTo>
                  <a:cubicBezTo>
                    <a:pt x="10726801" y="0"/>
                    <a:pt x="10755885" y="28702"/>
                    <a:pt x="10755885" y="64389"/>
                  </a:cubicBezTo>
                  <a:lnTo>
                    <a:pt x="10736835" y="64389"/>
                  </a:lnTo>
                  <a:lnTo>
                    <a:pt x="10755885" y="64389"/>
                  </a:lnTo>
                  <a:lnTo>
                    <a:pt x="10755885" y="4150995"/>
                  </a:lnTo>
                  <a:lnTo>
                    <a:pt x="10736835" y="4150995"/>
                  </a:lnTo>
                  <a:lnTo>
                    <a:pt x="10755885" y="4150995"/>
                  </a:lnTo>
                  <a:cubicBezTo>
                    <a:pt x="10755885" y="4186682"/>
                    <a:pt x="10726801" y="4215384"/>
                    <a:pt x="10691241" y="4215384"/>
                  </a:cubicBezTo>
                  <a:lnTo>
                    <a:pt x="10691241" y="4196334"/>
                  </a:lnTo>
                  <a:lnTo>
                    <a:pt x="10691241" y="4215384"/>
                  </a:lnTo>
                  <a:lnTo>
                    <a:pt x="64643" y="4215384"/>
                  </a:lnTo>
                  <a:lnTo>
                    <a:pt x="64643" y="4196334"/>
                  </a:lnTo>
                  <a:lnTo>
                    <a:pt x="64643" y="4215384"/>
                  </a:lnTo>
                  <a:cubicBezTo>
                    <a:pt x="29083" y="4215384"/>
                    <a:pt x="0" y="4186682"/>
                    <a:pt x="0" y="4150995"/>
                  </a:cubicBezTo>
                  <a:lnTo>
                    <a:pt x="0" y="64389"/>
                  </a:lnTo>
                  <a:lnTo>
                    <a:pt x="19050" y="64389"/>
                  </a:lnTo>
                  <a:lnTo>
                    <a:pt x="0" y="64389"/>
                  </a:lnTo>
                  <a:moveTo>
                    <a:pt x="38100" y="64389"/>
                  </a:moveTo>
                  <a:lnTo>
                    <a:pt x="38100" y="4150995"/>
                  </a:lnTo>
                  <a:lnTo>
                    <a:pt x="19050" y="4150995"/>
                  </a:lnTo>
                  <a:lnTo>
                    <a:pt x="38100" y="4150995"/>
                  </a:lnTo>
                  <a:cubicBezTo>
                    <a:pt x="38100" y="4165473"/>
                    <a:pt x="49911" y="4177284"/>
                    <a:pt x="64643" y="4177284"/>
                  </a:cubicBezTo>
                  <a:lnTo>
                    <a:pt x="10691241" y="4177284"/>
                  </a:lnTo>
                  <a:cubicBezTo>
                    <a:pt x="10705973" y="4177284"/>
                    <a:pt x="10717785" y="4165346"/>
                    <a:pt x="10717785" y="4150995"/>
                  </a:cubicBezTo>
                  <a:lnTo>
                    <a:pt x="10717785" y="64389"/>
                  </a:lnTo>
                  <a:cubicBezTo>
                    <a:pt x="10717785" y="49911"/>
                    <a:pt x="10705973" y="38100"/>
                    <a:pt x="10691241" y="38100"/>
                  </a:cubicBezTo>
                  <a:lnTo>
                    <a:pt x="64643" y="38100"/>
                  </a:lnTo>
                  <a:lnTo>
                    <a:pt x="64643" y="19050"/>
                  </a:lnTo>
                  <a:lnTo>
                    <a:pt x="64643" y="38100"/>
                  </a:lnTo>
                  <a:cubicBezTo>
                    <a:pt x="49911" y="38100"/>
                    <a:pt x="38100" y="50038"/>
                    <a:pt x="38100" y="64389"/>
                  </a:cubicBezTo>
                  <a:close/>
                </a:path>
              </a:pathLst>
            </a:custGeom>
            <a:solidFill>
              <a:srgbClr val="D8D4D4"/>
            </a:solidFill>
          </p:spPr>
          <p:txBody>
            <a:bodyPr/>
            <a:lstStyle/>
            <a:p>
              <a:endParaRPr lang="en-IN"/>
            </a:p>
          </p:txBody>
        </p:sp>
      </p:grpSp>
      <p:grpSp>
        <p:nvGrpSpPr>
          <p:cNvPr id="18" name="Group 18"/>
          <p:cNvGrpSpPr/>
          <p:nvPr/>
        </p:nvGrpSpPr>
        <p:grpSpPr>
          <a:xfrm>
            <a:off x="9285982" y="2325440"/>
            <a:ext cx="7981206" cy="680443"/>
            <a:chOff x="0" y="0"/>
            <a:chExt cx="10641608" cy="907257"/>
          </a:xfrm>
        </p:grpSpPr>
        <p:sp>
          <p:nvSpPr>
            <p:cNvPr id="19" name="Freeform 19"/>
            <p:cNvSpPr/>
            <p:nvPr/>
          </p:nvSpPr>
          <p:spPr>
            <a:xfrm>
              <a:off x="0" y="0"/>
              <a:ext cx="10641584" cy="907288"/>
            </a:xfrm>
            <a:custGeom>
              <a:avLst/>
              <a:gdLst/>
              <a:ahLst/>
              <a:cxnLst/>
              <a:rect l="l" t="t" r="r" b="b"/>
              <a:pathLst>
                <a:path w="10641584" h="907288">
                  <a:moveTo>
                    <a:pt x="0" y="0"/>
                  </a:moveTo>
                  <a:lnTo>
                    <a:pt x="10641584" y="0"/>
                  </a:lnTo>
                  <a:lnTo>
                    <a:pt x="10641584" y="907288"/>
                  </a:lnTo>
                  <a:lnTo>
                    <a:pt x="0" y="907288"/>
                  </a:lnTo>
                  <a:close/>
                </a:path>
              </a:pathLst>
            </a:custGeom>
            <a:solidFill>
              <a:srgbClr val="F2EEEE"/>
            </a:solidFill>
          </p:spPr>
          <p:txBody>
            <a:bodyPr/>
            <a:lstStyle/>
            <a:p>
              <a:endParaRPr lang="en-IN"/>
            </a:p>
          </p:txBody>
        </p:sp>
      </p:grpSp>
      <p:sp>
        <p:nvSpPr>
          <p:cNvPr id="20" name="Freeform 20" descr="preencoded.png"/>
          <p:cNvSpPr/>
          <p:nvPr/>
        </p:nvSpPr>
        <p:spPr>
          <a:xfrm>
            <a:off x="13106400" y="2495401"/>
            <a:ext cx="340221" cy="340221"/>
          </a:xfrm>
          <a:custGeom>
            <a:avLst/>
            <a:gdLst/>
            <a:ahLst/>
            <a:cxnLst/>
            <a:rect l="l" t="t" r="r" b="b"/>
            <a:pathLst>
              <a:path w="340221" h="340221">
                <a:moveTo>
                  <a:pt x="0" y="0"/>
                </a:moveTo>
                <a:lnTo>
                  <a:pt x="340221" y="0"/>
                </a:lnTo>
                <a:lnTo>
                  <a:pt x="340221" y="340221"/>
                </a:lnTo>
                <a:lnTo>
                  <a:pt x="0" y="340221"/>
                </a:lnTo>
                <a:lnTo>
                  <a:pt x="0" y="0"/>
                </a:lnTo>
                <a:close/>
              </a:path>
            </a:pathLst>
          </a:custGeom>
          <a:blipFill>
            <a:blip r:embed="rId5">
              <a:extLst>
                <a:ext uri="{96DAC541-7B7A-43D3-8B79-37D633B846F1}">
                  <asvg:svgBlip xmlns:asvg="http://schemas.microsoft.com/office/drawing/2016/SVG/main" r:embed="rId6"/>
                </a:ext>
              </a:extLst>
            </a:blip>
            <a:stretch>
              <a:fillRect t="-1388" b="-1388"/>
            </a:stretch>
          </a:blipFill>
        </p:spPr>
        <p:txBody>
          <a:bodyPr/>
          <a:lstStyle/>
          <a:p>
            <a:endParaRPr lang="en-IN"/>
          </a:p>
        </p:txBody>
      </p:sp>
      <p:sp>
        <p:nvSpPr>
          <p:cNvPr id="21" name="TextBox 21"/>
          <p:cNvSpPr txBox="1"/>
          <p:nvPr/>
        </p:nvSpPr>
        <p:spPr>
          <a:xfrm>
            <a:off x="9512796" y="3213646"/>
            <a:ext cx="2835325" cy="373410"/>
          </a:xfrm>
          <a:prstGeom prst="rect">
            <a:avLst/>
          </a:prstGeom>
        </p:spPr>
        <p:txBody>
          <a:bodyPr lIns="0" tIns="0" rIns="0" bIns="0" rtlCol="0" anchor="t">
            <a:spAutoFit/>
          </a:bodyPr>
          <a:lstStyle/>
          <a:p>
            <a:pPr algn="l">
              <a:lnSpc>
                <a:spcPts val="2750"/>
              </a:lnSpc>
            </a:pPr>
            <a:r>
              <a:rPr lang="en-US" sz="2187" b="1">
                <a:solidFill>
                  <a:srgbClr val="464646"/>
                </a:solidFill>
                <a:latin typeface="DM Sans Bold"/>
                <a:ea typeface="DM Sans Bold"/>
                <a:cs typeface="DM Sans Bold"/>
                <a:sym typeface="DM Sans Bold"/>
              </a:rPr>
              <a:t>Location Insights</a:t>
            </a:r>
          </a:p>
        </p:txBody>
      </p:sp>
      <p:sp>
        <p:nvSpPr>
          <p:cNvPr id="22" name="TextBox 22"/>
          <p:cNvSpPr txBox="1"/>
          <p:nvPr/>
        </p:nvSpPr>
        <p:spPr>
          <a:xfrm>
            <a:off x="9512796" y="3646885"/>
            <a:ext cx="7527577" cy="1527573"/>
          </a:xfrm>
          <a:prstGeom prst="rect">
            <a:avLst/>
          </a:prstGeom>
        </p:spPr>
        <p:txBody>
          <a:bodyPr lIns="0" tIns="0" rIns="0" bIns="0" rtlCol="0" anchor="t">
            <a:spAutoFit/>
          </a:bodyPr>
          <a:lstStyle/>
          <a:p>
            <a:pPr algn="l">
              <a:lnSpc>
                <a:spcPts val="2812"/>
              </a:lnSpc>
            </a:pPr>
            <a:r>
              <a:rPr lang="en-US" sz="1750" b="1">
                <a:solidFill>
                  <a:srgbClr val="464646"/>
                </a:solidFill>
                <a:latin typeface="Inter Medium"/>
                <a:ea typeface="Inter Medium"/>
                <a:cs typeface="Inter Medium"/>
                <a:sym typeface="Inter Medium"/>
              </a:rPr>
              <a:t>Using a </a:t>
            </a:r>
            <a:r>
              <a:rPr lang="en-US" sz="1750" b="1">
                <a:solidFill>
                  <a:srgbClr val="464646"/>
                </a:solidFill>
                <a:latin typeface="Inter Bold"/>
                <a:ea typeface="Inter Bold"/>
                <a:cs typeface="Inter Bold"/>
                <a:sym typeface="Inter Bold"/>
              </a:rPr>
              <a:t>pie chart</a:t>
            </a:r>
            <a:r>
              <a:rPr lang="en-US" sz="1750" b="1">
                <a:solidFill>
                  <a:srgbClr val="464646"/>
                </a:solidFill>
                <a:latin typeface="Inter Medium"/>
                <a:ea typeface="Inter Medium"/>
                <a:cs typeface="Inter Medium"/>
                <a:sym typeface="Inter Medium"/>
              </a:rPr>
              <a:t>, we mapped out the geographical distribution of our user base. This helps pinpoint key regions where our audience is concentrated, informing location-specific campaigns and content localization strategies.</a:t>
            </a:r>
          </a:p>
        </p:txBody>
      </p:sp>
      <p:grpSp>
        <p:nvGrpSpPr>
          <p:cNvPr id="23" name="Group 23"/>
          <p:cNvGrpSpPr/>
          <p:nvPr/>
        </p:nvGrpSpPr>
        <p:grpSpPr>
          <a:xfrm>
            <a:off x="977950" y="5642372"/>
            <a:ext cx="8066931" cy="3524399"/>
            <a:chOff x="0" y="0"/>
            <a:chExt cx="10755908" cy="4699198"/>
          </a:xfrm>
        </p:grpSpPr>
        <p:sp>
          <p:nvSpPr>
            <p:cNvPr id="24" name="Freeform 24"/>
            <p:cNvSpPr/>
            <p:nvPr/>
          </p:nvSpPr>
          <p:spPr>
            <a:xfrm>
              <a:off x="19050" y="19050"/>
              <a:ext cx="10717785" cy="4661027"/>
            </a:xfrm>
            <a:custGeom>
              <a:avLst/>
              <a:gdLst/>
              <a:ahLst/>
              <a:cxnLst/>
              <a:rect l="l" t="t" r="r" b="b"/>
              <a:pathLst>
                <a:path w="10717785" h="4661027">
                  <a:moveTo>
                    <a:pt x="0" y="45339"/>
                  </a:moveTo>
                  <a:cubicBezTo>
                    <a:pt x="0" y="20320"/>
                    <a:pt x="20447" y="0"/>
                    <a:pt x="45593" y="0"/>
                  </a:cubicBezTo>
                  <a:lnTo>
                    <a:pt x="10672191" y="0"/>
                  </a:lnTo>
                  <a:cubicBezTo>
                    <a:pt x="10697337" y="0"/>
                    <a:pt x="10717785" y="20320"/>
                    <a:pt x="10717785" y="45339"/>
                  </a:cubicBezTo>
                  <a:lnTo>
                    <a:pt x="10717785" y="4615688"/>
                  </a:lnTo>
                  <a:cubicBezTo>
                    <a:pt x="10717785" y="4640707"/>
                    <a:pt x="10697337" y="4661027"/>
                    <a:pt x="10672191" y="4661027"/>
                  </a:cubicBezTo>
                  <a:lnTo>
                    <a:pt x="45593" y="4661027"/>
                  </a:lnTo>
                  <a:cubicBezTo>
                    <a:pt x="20447" y="4661027"/>
                    <a:pt x="0" y="4640707"/>
                    <a:pt x="0" y="4615688"/>
                  </a:cubicBezTo>
                  <a:close/>
                </a:path>
              </a:pathLst>
            </a:custGeom>
            <a:solidFill>
              <a:srgbClr val="FFFFFF"/>
            </a:solidFill>
          </p:spPr>
          <p:txBody>
            <a:bodyPr/>
            <a:lstStyle/>
            <a:p>
              <a:endParaRPr lang="en-IN"/>
            </a:p>
          </p:txBody>
        </p:sp>
        <p:sp>
          <p:nvSpPr>
            <p:cNvPr id="25" name="Freeform 25"/>
            <p:cNvSpPr/>
            <p:nvPr/>
          </p:nvSpPr>
          <p:spPr>
            <a:xfrm>
              <a:off x="0" y="0"/>
              <a:ext cx="10755885" cy="4699127"/>
            </a:xfrm>
            <a:custGeom>
              <a:avLst/>
              <a:gdLst/>
              <a:ahLst/>
              <a:cxnLst/>
              <a:rect l="l" t="t" r="r" b="b"/>
              <a:pathLst>
                <a:path w="10755885" h="4699127">
                  <a:moveTo>
                    <a:pt x="0" y="64389"/>
                  </a:moveTo>
                  <a:cubicBezTo>
                    <a:pt x="0" y="28702"/>
                    <a:pt x="28956" y="0"/>
                    <a:pt x="64643" y="0"/>
                  </a:cubicBezTo>
                  <a:lnTo>
                    <a:pt x="10691241" y="0"/>
                  </a:lnTo>
                  <a:lnTo>
                    <a:pt x="10691241" y="19050"/>
                  </a:lnTo>
                  <a:lnTo>
                    <a:pt x="10691241" y="0"/>
                  </a:lnTo>
                  <a:cubicBezTo>
                    <a:pt x="10726801" y="0"/>
                    <a:pt x="10755885" y="28702"/>
                    <a:pt x="10755885" y="64389"/>
                  </a:cubicBezTo>
                  <a:lnTo>
                    <a:pt x="10736835" y="64389"/>
                  </a:lnTo>
                  <a:lnTo>
                    <a:pt x="10755885" y="64389"/>
                  </a:lnTo>
                  <a:lnTo>
                    <a:pt x="10755885" y="4634738"/>
                  </a:lnTo>
                  <a:lnTo>
                    <a:pt x="10736835" y="4634738"/>
                  </a:lnTo>
                  <a:lnTo>
                    <a:pt x="10755885" y="4634738"/>
                  </a:lnTo>
                  <a:cubicBezTo>
                    <a:pt x="10755885" y="4670425"/>
                    <a:pt x="10726928" y="4699127"/>
                    <a:pt x="10691241" y="4699127"/>
                  </a:cubicBezTo>
                  <a:lnTo>
                    <a:pt x="10691241" y="4680077"/>
                  </a:lnTo>
                  <a:lnTo>
                    <a:pt x="10691241" y="4699127"/>
                  </a:lnTo>
                  <a:lnTo>
                    <a:pt x="64643" y="4699127"/>
                  </a:lnTo>
                  <a:lnTo>
                    <a:pt x="64643" y="4680077"/>
                  </a:lnTo>
                  <a:lnTo>
                    <a:pt x="64643" y="4699127"/>
                  </a:lnTo>
                  <a:cubicBezTo>
                    <a:pt x="29083" y="4699127"/>
                    <a:pt x="0" y="4670425"/>
                    <a:pt x="0" y="4634738"/>
                  </a:cubicBezTo>
                  <a:lnTo>
                    <a:pt x="0" y="64389"/>
                  </a:lnTo>
                  <a:lnTo>
                    <a:pt x="19050" y="64389"/>
                  </a:lnTo>
                  <a:lnTo>
                    <a:pt x="0" y="64389"/>
                  </a:lnTo>
                  <a:moveTo>
                    <a:pt x="38100" y="64389"/>
                  </a:moveTo>
                  <a:lnTo>
                    <a:pt x="38100" y="4634738"/>
                  </a:lnTo>
                  <a:lnTo>
                    <a:pt x="19050" y="4634738"/>
                  </a:lnTo>
                  <a:lnTo>
                    <a:pt x="38100" y="4634738"/>
                  </a:lnTo>
                  <a:cubicBezTo>
                    <a:pt x="38100" y="4649216"/>
                    <a:pt x="49911" y="4661027"/>
                    <a:pt x="64643" y="4661027"/>
                  </a:cubicBezTo>
                  <a:lnTo>
                    <a:pt x="10691241" y="4661027"/>
                  </a:lnTo>
                  <a:cubicBezTo>
                    <a:pt x="10705973" y="4661027"/>
                    <a:pt x="10717785" y="4649216"/>
                    <a:pt x="10717785" y="4634738"/>
                  </a:cubicBezTo>
                  <a:lnTo>
                    <a:pt x="10717785" y="64389"/>
                  </a:lnTo>
                  <a:cubicBezTo>
                    <a:pt x="10717785" y="49911"/>
                    <a:pt x="10705973" y="38100"/>
                    <a:pt x="10691241" y="38100"/>
                  </a:cubicBezTo>
                  <a:lnTo>
                    <a:pt x="64643" y="38100"/>
                  </a:lnTo>
                  <a:lnTo>
                    <a:pt x="64643" y="19050"/>
                  </a:lnTo>
                  <a:lnTo>
                    <a:pt x="64643" y="38100"/>
                  </a:lnTo>
                  <a:cubicBezTo>
                    <a:pt x="49911" y="38100"/>
                    <a:pt x="38100" y="49911"/>
                    <a:pt x="38100" y="64389"/>
                  </a:cubicBezTo>
                  <a:close/>
                </a:path>
              </a:pathLst>
            </a:custGeom>
            <a:solidFill>
              <a:srgbClr val="D8D4D4"/>
            </a:solidFill>
          </p:spPr>
          <p:txBody>
            <a:bodyPr/>
            <a:lstStyle/>
            <a:p>
              <a:endParaRPr lang="en-IN"/>
            </a:p>
          </p:txBody>
        </p:sp>
      </p:grpSp>
      <p:grpSp>
        <p:nvGrpSpPr>
          <p:cNvPr id="26" name="Group 26"/>
          <p:cNvGrpSpPr/>
          <p:nvPr/>
        </p:nvGrpSpPr>
        <p:grpSpPr>
          <a:xfrm>
            <a:off x="1020812" y="5685234"/>
            <a:ext cx="7981206" cy="680442"/>
            <a:chOff x="0" y="0"/>
            <a:chExt cx="10641608" cy="907257"/>
          </a:xfrm>
        </p:grpSpPr>
        <p:sp>
          <p:nvSpPr>
            <p:cNvPr id="27" name="Freeform 27"/>
            <p:cNvSpPr/>
            <p:nvPr/>
          </p:nvSpPr>
          <p:spPr>
            <a:xfrm>
              <a:off x="0" y="0"/>
              <a:ext cx="10641584" cy="907288"/>
            </a:xfrm>
            <a:custGeom>
              <a:avLst/>
              <a:gdLst/>
              <a:ahLst/>
              <a:cxnLst/>
              <a:rect l="l" t="t" r="r" b="b"/>
              <a:pathLst>
                <a:path w="10641584" h="907288">
                  <a:moveTo>
                    <a:pt x="0" y="0"/>
                  </a:moveTo>
                  <a:lnTo>
                    <a:pt x="10641584" y="0"/>
                  </a:lnTo>
                  <a:lnTo>
                    <a:pt x="10641584" y="907288"/>
                  </a:lnTo>
                  <a:lnTo>
                    <a:pt x="0" y="907288"/>
                  </a:lnTo>
                  <a:close/>
                </a:path>
              </a:pathLst>
            </a:custGeom>
            <a:solidFill>
              <a:srgbClr val="F2EEEE"/>
            </a:solidFill>
          </p:spPr>
          <p:txBody>
            <a:bodyPr/>
            <a:lstStyle/>
            <a:p>
              <a:endParaRPr lang="en-IN"/>
            </a:p>
          </p:txBody>
        </p:sp>
      </p:grpSp>
      <p:sp>
        <p:nvSpPr>
          <p:cNvPr id="28" name="Freeform 28" descr="preencoded.png"/>
          <p:cNvSpPr/>
          <p:nvPr/>
        </p:nvSpPr>
        <p:spPr>
          <a:xfrm>
            <a:off x="4841230" y="5855196"/>
            <a:ext cx="340221" cy="340221"/>
          </a:xfrm>
          <a:custGeom>
            <a:avLst/>
            <a:gdLst/>
            <a:ahLst/>
            <a:cxnLst/>
            <a:rect l="l" t="t" r="r" b="b"/>
            <a:pathLst>
              <a:path w="340221" h="340221">
                <a:moveTo>
                  <a:pt x="0" y="0"/>
                </a:moveTo>
                <a:lnTo>
                  <a:pt x="340221" y="0"/>
                </a:lnTo>
                <a:lnTo>
                  <a:pt x="340221" y="340222"/>
                </a:lnTo>
                <a:lnTo>
                  <a:pt x="0" y="340222"/>
                </a:lnTo>
                <a:lnTo>
                  <a:pt x="0" y="0"/>
                </a:lnTo>
                <a:close/>
              </a:path>
            </a:pathLst>
          </a:custGeom>
          <a:blipFill>
            <a:blip r:embed="rId7">
              <a:extLst>
                <a:ext uri="{96DAC541-7B7A-43D3-8B79-37D633B846F1}">
                  <asvg:svgBlip xmlns:asvg="http://schemas.microsoft.com/office/drawing/2016/SVG/main" r:embed="rId8"/>
                </a:ext>
              </a:extLst>
            </a:blip>
            <a:stretch>
              <a:fillRect t="-2777" b="-2777"/>
            </a:stretch>
          </a:blipFill>
        </p:spPr>
        <p:txBody>
          <a:bodyPr/>
          <a:lstStyle/>
          <a:p>
            <a:endParaRPr lang="en-IN"/>
          </a:p>
        </p:txBody>
      </p:sp>
      <p:sp>
        <p:nvSpPr>
          <p:cNvPr id="29" name="TextBox 29"/>
          <p:cNvSpPr txBox="1"/>
          <p:nvPr/>
        </p:nvSpPr>
        <p:spPr>
          <a:xfrm>
            <a:off x="1247626" y="6573441"/>
            <a:ext cx="2835325" cy="373410"/>
          </a:xfrm>
          <a:prstGeom prst="rect">
            <a:avLst/>
          </a:prstGeom>
        </p:spPr>
        <p:txBody>
          <a:bodyPr lIns="0" tIns="0" rIns="0" bIns="0" rtlCol="0" anchor="t">
            <a:spAutoFit/>
          </a:bodyPr>
          <a:lstStyle/>
          <a:p>
            <a:pPr algn="l">
              <a:lnSpc>
                <a:spcPts val="2750"/>
              </a:lnSpc>
            </a:pPr>
            <a:r>
              <a:rPr lang="en-US" sz="2187" b="1">
                <a:solidFill>
                  <a:srgbClr val="464646"/>
                </a:solidFill>
                <a:latin typeface="DM Sans Bold"/>
                <a:ea typeface="DM Sans Bold"/>
                <a:cs typeface="DM Sans Bold"/>
                <a:sym typeface="DM Sans Bold"/>
              </a:rPr>
              <a:t>Follower Distribution</a:t>
            </a:r>
          </a:p>
        </p:txBody>
      </p:sp>
      <p:sp>
        <p:nvSpPr>
          <p:cNvPr id="30" name="TextBox 30"/>
          <p:cNvSpPr txBox="1"/>
          <p:nvPr/>
        </p:nvSpPr>
        <p:spPr>
          <a:xfrm>
            <a:off x="1247626" y="7006679"/>
            <a:ext cx="7527577" cy="1890415"/>
          </a:xfrm>
          <a:prstGeom prst="rect">
            <a:avLst/>
          </a:prstGeom>
        </p:spPr>
        <p:txBody>
          <a:bodyPr lIns="0" tIns="0" rIns="0" bIns="0" rtlCol="0" anchor="t">
            <a:spAutoFit/>
          </a:bodyPr>
          <a:lstStyle/>
          <a:p>
            <a:pPr algn="l">
              <a:lnSpc>
                <a:spcPts val="2812"/>
              </a:lnSpc>
            </a:pPr>
            <a:r>
              <a:rPr lang="en-US" sz="1750" b="1">
                <a:solidFill>
                  <a:srgbClr val="464646"/>
                </a:solidFill>
                <a:latin typeface="Inter Medium"/>
                <a:ea typeface="Inter Medium"/>
                <a:cs typeface="Inter Medium"/>
                <a:sym typeface="Inter Medium"/>
              </a:rPr>
              <a:t>A </a:t>
            </a:r>
            <a:r>
              <a:rPr lang="en-US" sz="1750" b="1">
                <a:solidFill>
                  <a:srgbClr val="464646"/>
                </a:solidFill>
                <a:latin typeface="Inter Bold"/>
                <a:ea typeface="Inter Bold"/>
                <a:cs typeface="Inter Bold"/>
                <a:sym typeface="Inter Bold"/>
              </a:rPr>
              <a:t>histogram with a Kernel Density Estimate (KDE) curve</a:t>
            </a:r>
            <a:r>
              <a:rPr lang="en-US" sz="1750" b="1">
                <a:solidFill>
                  <a:srgbClr val="464646"/>
                </a:solidFill>
                <a:latin typeface="Inter Medium"/>
                <a:ea typeface="Inter Medium"/>
                <a:cs typeface="Inter Medium"/>
                <a:sym typeface="Inter Medium"/>
              </a:rPr>
              <a:t> revealed the spread of follower counts among users. This sophisticated visualization helps us identify patterns in audience size, from micro-influencers to larger accounts, and strategize engagement approaches for each segment.</a:t>
            </a:r>
          </a:p>
        </p:txBody>
      </p:sp>
      <p:grpSp>
        <p:nvGrpSpPr>
          <p:cNvPr id="31" name="Group 31"/>
          <p:cNvGrpSpPr/>
          <p:nvPr/>
        </p:nvGrpSpPr>
        <p:grpSpPr>
          <a:xfrm>
            <a:off x="9243120" y="5642372"/>
            <a:ext cx="8066931" cy="3524399"/>
            <a:chOff x="0" y="0"/>
            <a:chExt cx="10755908" cy="4699198"/>
          </a:xfrm>
        </p:grpSpPr>
        <p:sp>
          <p:nvSpPr>
            <p:cNvPr id="32" name="Freeform 32"/>
            <p:cNvSpPr/>
            <p:nvPr/>
          </p:nvSpPr>
          <p:spPr>
            <a:xfrm>
              <a:off x="19050" y="19050"/>
              <a:ext cx="10717785" cy="4661027"/>
            </a:xfrm>
            <a:custGeom>
              <a:avLst/>
              <a:gdLst/>
              <a:ahLst/>
              <a:cxnLst/>
              <a:rect l="l" t="t" r="r" b="b"/>
              <a:pathLst>
                <a:path w="10717785" h="4661027">
                  <a:moveTo>
                    <a:pt x="0" y="45339"/>
                  </a:moveTo>
                  <a:cubicBezTo>
                    <a:pt x="0" y="20320"/>
                    <a:pt x="20447" y="0"/>
                    <a:pt x="45593" y="0"/>
                  </a:cubicBezTo>
                  <a:lnTo>
                    <a:pt x="10672191" y="0"/>
                  </a:lnTo>
                  <a:cubicBezTo>
                    <a:pt x="10697337" y="0"/>
                    <a:pt x="10717785" y="20320"/>
                    <a:pt x="10717785" y="45339"/>
                  </a:cubicBezTo>
                  <a:lnTo>
                    <a:pt x="10717785" y="4615688"/>
                  </a:lnTo>
                  <a:cubicBezTo>
                    <a:pt x="10717785" y="4640707"/>
                    <a:pt x="10697337" y="4661027"/>
                    <a:pt x="10672191" y="4661027"/>
                  </a:cubicBezTo>
                  <a:lnTo>
                    <a:pt x="45593" y="4661027"/>
                  </a:lnTo>
                  <a:cubicBezTo>
                    <a:pt x="20447" y="4661027"/>
                    <a:pt x="0" y="4640707"/>
                    <a:pt x="0" y="4615688"/>
                  </a:cubicBezTo>
                  <a:close/>
                </a:path>
              </a:pathLst>
            </a:custGeom>
            <a:solidFill>
              <a:srgbClr val="FFFFFF"/>
            </a:solidFill>
          </p:spPr>
          <p:txBody>
            <a:bodyPr/>
            <a:lstStyle/>
            <a:p>
              <a:endParaRPr lang="en-IN"/>
            </a:p>
          </p:txBody>
        </p:sp>
        <p:sp>
          <p:nvSpPr>
            <p:cNvPr id="33" name="Freeform 33"/>
            <p:cNvSpPr/>
            <p:nvPr/>
          </p:nvSpPr>
          <p:spPr>
            <a:xfrm>
              <a:off x="0" y="0"/>
              <a:ext cx="10755885" cy="4699127"/>
            </a:xfrm>
            <a:custGeom>
              <a:avLst/>
              <a:gdLst/>
              <a:ahLst/>
              <a:cxnLst/>
              <a:rect l="l" t="t" r="r" b="b"/>
              <a:pathLst>
                <a:path w="10755885" h="4699127">
                  <a:moveTo>
                    <a:pt x="0" y="64389"/>
                  </a:moveTo>
                  <a:cubicBezTo>
                    <a:pt x="0" y="28702"/>
                    <a:pt x="28956" y="0"/>
                    <a:pt x="64643" y="0"/>
                  </a:cubicBezTo>
                  <a:lnTo>
                    <a:pt x="10691241" y="0"/>
                  </a:lnTo>
                  <a:lnTo>
                    <a:pt x="10691241" y="19050"/>
                  </a:lnTo>
                  <a:lnTo>
                    <a:pt x="10691241" y="0"/>
                  </a:lnTo>
                  <a:cubicBezTo>
                    <a:pt x="10726801" y="0"/>
                    <a:pt x="10755885" y="28702"/>
                    <a:pt x="10755885" y="64389"/>
                  </a:cubicBezTo>
                  <a:lnTo>
                    <a:pt x="10736835" y="64389"/>
                  </a:lnTo>
                  <a:lnTo>
                    <a:pt x="10755885" y="64389"/>
                  </a:lnTo>
                  <a:lnTo>
                    <a:pt x="10755885" y="4634738"/>
                  </a:lnTo>
                  <a:lnTo>
                    <a:pt x="10736835" y="4634738"/>
                  </a:lnTo>
                  <a:lnTo>
                    <a:pt x="10755885" y="4634738"/>
                  </a:lnTo>
                  <a:cubicBezTo>
                    <a:pt x="10755885" y="4670425"/>
                    <a:pt x="10726928" y="4699127"/>
                    <a:pt x="10691241" y="4699127"/>
                  </a:cubicBezTo>
                  <a:lnTo>
                    <a:pt x="10691241" y="4680077"/>
                  </a:lnTo>
                  <a:lnTo>
                    <a:pt x="10691241" y="4699127"/>
                  </a:lnTo>
                  <a:lnTo>
                    <a:pt x="64643" y="4699127"/>
                  </a:lnTo>
                  <a:lnTo>
                    <a:pt x="64643" y="4680077"/>
                  </a:lnTo>
                  <a:lnTo>
                    <a:pt x="64643" y="4699127"/>
                  </a:lnTo>
                  <a:cubicBezTo>
                    <a:pt x="29083" y="4699127"/>
                    <a:pt x="0" y="4670425"/>
                    <a:pt x="0" y="4634738"/>
                  </a:cubicBezTo>
                  <a:lnTo>
                    <a:pt x="0" y="64389"/>
                  </a:lnTo>
                  <a:lnTo>
                    <a:pt x="19050" y="64389"/>
                  </a:lnTo>
                  <a:lnTo>
                    <a:pt x="0" y="64389"/>
                  </a:lnTo>
                  <a:moveTo>
                    <a:pt x="38100" y="64389"/>
                  </a:moveTo>
                  <a:lnTo>
                    <a:pt x="38100" y="4634738"/>
                  </a:lnTo>
                  <a:lnTo>
                    <a:pt x="19050" y="4634738"/>
                  </a:lnTo>
                  <a:lnTo>
                    <a:pt x="38100" y="4634738"/>
                  </a:lnTo>
                  <a:cubicBezTo>
                    <a:pt x="38100" y="4649216"/>
                    <a:pt x="49911" y="4661027"/>
                    <a:pt x="64643" y="4661027"/>
                  </a:cubicBezTo>
                  <a:lnTo>
                    <a:pt x="10691241" y="4661027"/>
                  </a:lnTo>
                  <a:cubicBezTo>
                    <a:pt x="10705973" y="4661027"/>
                    <a:pt x="10717785" y="4649216"/>
                    <a:pt x="10717785" y="4634738"/>
                  </a:cubicBezTo>
                  <a:lnTo>
                    <a:pt x="10717785" y="64389"/>
                  </a:lnTo>
                  <a:cubicBezTo>
                    <a:pt x="10717785" y="49911"/>
                    <a:pt x="10705973" y="38100"/>
                    <a:pt x="10691241" y="38100"/>
                  </a:cubicBezTo>
                  <a:lnTo>
                    <a:pt x="64643" y="38100"/>
                  </a:lnTo>
                  <a:lnTo>
                    <a:pt x="64643" y="19050"/>
                  </a:lnTo>
                  <a:lnTo>
                    <a:pt x="64643" y="38100"/>
                  </a:lnTo>
                  <a:cubicBezTo>
                    <a:pt x="49911" y="38100"/>
                    <a:pt x="38100" y="49911"/>
                    <a:pt x="38100" y="64389"/>
                  </a:cubicBezTo>
                  <a:close/>
                </a:path>
              </a:pathLst>
            </a:custGeom>
            <a:solidFill>
              <a:srgbClr val="D8D4D4"/>
            </a:solidFill>
          </p:spPr>
          <p:txBody>
            <a:bodyPr/>
            <a:lstStyle/>
            <a:p>
              <a:endParaRPr lang="en-IN"/>
            </a:p>
          </p:txBody>
        </p:sp>
      </p:grpSp>
      <p:grpSp>
        <p:nvGrpSpPr>
          <p:cNvPr id="34" name="Group 34"/>
          <p:cNvGrpSpPr/>
          <p:nvPr/>
        </p:nvGrpSpPr>
        <p:grpSpPr>
          <a:xfrm>
            <a:off x="9285982" y="5685234"/>
            <a:ext cx="7981206" cy="680442"/>
            <a:chOff x="0" y="0"/>
            <a:chExt cx="10641608" cy="907257"/>
          </a:xfrm>
        </p:grpSpPr>
        <p:sp>
          <p:nvSpPr>
            <p:cNvPr id="35" name="Freeform 35"/>
            <p:cNvSpPr/>
            <p:nvPr/>
          </p:nvSpPr>
          <p:spPr>
            <a:xfrm>
              <a:off x="0" y="0"/>
              <a:ext cx="10641584" cy="907288"/>
            </a:xfrm>
            <a:custGeom>
              <a:avLst/>
              <a:gdLst/>
              <a:ahLst/>
              <a:cxnLst/>
              <a:rect l="l" t="t" r="r" b="b"/>
              <a:pathLst>
                <a:path w="10641584" h="907288">
                  <a:moveTo>
                    <a:pt x="0" y="0"/>
                  </a:moveTo>
                  <a:lnTo>
                    <a:pt x="10641584" y="0"/>
                  </a:lnTo>
                  <a:lnTo>
                    <a:pt x="10641584" y="907288"/>
                  </a:lnTo>
                  <a:lnTo>
                    <a:pt x="0" y="907288"/>
                  </a:lnTo>
                  <a:close/>
                </a:path>
              </a:pathLst>
            </a:custGeom>
            <a:solidFill>
              <a:srgbClr val="F2EEEE"/>
            </a:solidFill>
          </p:spPr>
          <p:txBody>
            <a:bodyPr/>
            <a:lstStyle/>
            <a:p>
              <a:endParaRPr lang="en-IN"/>
            </a:p>
          </p:txBody>
        </p:sp>
      </p:grpSp>
      <p:sp>
        <p:nvSpPr>
          <p:cNvPr id="36" name="Freeform 36" descr="preencoded.png"/>
          <p:cNvSpPr/>
          <p:nvPr/>
        </p:nvSpPr>
        <p:spPr>
          <a:xfrm>
            <a:off x="13106400" y="5855196"/>
            <a:ext cx="340221" cy="340221"/>
          </a:xfrm>
          <a:custGeom>
            <a:avLst/>
            <a:gdLst/>
            <a:ahLst/>
            <a:cxnLst/>
            <a:rect l="l" t="t" r="r" b="b"/>
            <a:pathLst>
              <a:path w="340221" h="340221">
                <a:moveTo>
                  <a:pt x="0" y="0"/>
                </a:moveTo>
                <a:lnTo>
                  <a:pt x="340221" y="0"/>
                </a:lnTo>
                <a:lnTo>
                  <a:pt x="340221" y="340222"/>
                </a:lnTo>
                <a:lnTo>
                  <a:pt x="0" y="340222"/>
                </a:lnTo>
                <a:lnTo>
                  <a:pt x="0" y="0"/>
                </a:lnTo>
                <a:close/>
              </a:path>
            </a:pathLst>
          </a:custGeom>
          <a:blipFill>
            <a:blip r:embed="rId9">
              <a:extLst>
                <a:ext uri="{96DAC541-7B7A-43D3-8B79-37D633B846F1}">
                  <asvg:svgBlip xmlns:asvg="http://schemas.microsoft.com/office/drawing/2016/SVG/main" r:embed="rId10"/>
                </a:ext>
              </a:extLst>
            </a:blip>
            <a:stretch>
              <a:fillRect t="-15277" b="-15277"/>
            </a:stretch>
          </a:blipFill>
        </p:spPr>
        <p:txBody>
          <a:bodyPr/>
          <a:lstStyle/>
          <a:p>
            <a:endParaRPr lang="en-IN"/>
          </a:p>
        </p:txBody>
      </p:sp>
      <p:sp>
        <p:nvSpPr>
          <p:cNvPr id="37" name="TextBox 37"/>
          <p:cNvSpPr txBox="1"/>
          <p:nvPr/>
        </p:nvSpPr>
        <p:spPr>
          <a:xfrm>
            <a:off x="9512796" y="6573441"/>
            <a:ext cx="5838825" cy="373410"/>
          </a:xfrm>
          <a:prstGeom prst="rect">
            <a:avLst/>
          </a:prstGeom>
        </p:spPr>
        <p:txBody>
          <a:bodyPr lIns="0" tIns="0" rIns="0" bIns="0" rtlCol="0" anchor="t">
            <a:spAutoFit/>
          </a:bodyPr>
          <a:lstStyle/>
          <a:p>
            <a:pPr algn="l">
              <a:lnSpc>
                <a:spcPts val="2750"/>
              </a:lnSpc>
            </a:pPr>
            <a:r>
              <a:rPr lang="en-US" sz="2187" b="1">
                <a:solidFill>
                  <a:srgbClr val="464646"/>
                </a:solidFill>
                <a:latin typeface="DM Sans Bold"/>
                <a:ea typeface="DM Sans Bold"/>
                <a:cs typeface="DM Sans Bold"/>
                <a:sym typeface="DM Sans Bold"/>
              </a:rPr>
              <a:t>Content Preferences: Post Type vs. Gender</a:t>
            </a:r>
          </a:p>
        </p:txBody>
      </p:sp>
      <p:sp>
        <p:nvSpPr>
          <p:cNvPr id="38" name="TextBox 38"/>
          <p:cNvSpPr txBox="1"/>
          <p:nvPr/>
        </p:nvSpPr>
        <p:spPr>
          <a:xfrm>
            <a:off x="9512796" y="7006679"/>
            <a:ext cx="7527577" cy="1890415"/>
          </a:xfrm>
          <a:prstGeom prst="rect">
            <a:avLst/>
          </a:prstGeom>
        </p:spPr>
        <p:txBody>
          <a:bodyPr lIns="0" tIns="0" rIns="0" bIns="0" rtlCol="0" anchor="t">
            <a:spAutoFit/>
          </a:bodyPr>
          <a:lstStyle/>
          <a:p>
            <a:pPr algn="l">
              <a:lnSpc>
                <a:spcPts val="2812"/>
              </a:lnSpc>
            </a:pPr>
            <a:r>
              <a:rPr lang="en-US" sz="1750" b="1">
                <a:solidFill>
                  <a:srgbClr val="464646"/>
                </a:solidFill>
                <a:latin typeface="Inter Medium"/>
                <a:ea typeface="Inter Medium"/>
                <a:cs typeface="Inter Medium"/>
                <a:sym typeface="Inter Medium"/>
              </a:rPr>
              <a:t>A </a:t>
            </a:r>
            <a:r>
              <a:rPr lang="en-US" sz="1750" b="1">
                <a:solidFill>
                  <a:srgbClr val="464646"/>
                </a:solidFill>
                <a:latin typeface="Inter Bold"/>
                <a:ea typeface="Inter Bold"/>
                <a:cs typeface="Inter Bold"/>
                <a:sym typeface="Inter Bold"/>
              </a:rPr>
              <a:t>stacked bar chart</a:t>
            </a:r>
            <a:r>
              <a:rPr lang="en-US" sz="1750" b="1">
                <a:solidFill>
                  <a:srgbClr val="464646"/>
                </a:solidFill>
                <a:latin typeface="Inter Medium"/>
                <a:ea typeface="Inter Medium"/>
                <a:cs typeface="Inter Medium"/>
                <a:sym typeface="Inter Medium"/>
              </a:rPr>
              <a:t> illustrated which post types are more popular among different genders. This comparative view is invaluable for optimizing content creation, ensuring we produce material that appeals effectively to specific demographic groups and drives higher engagement.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sp>
        <p:nvSpPr>
          <p:cNvPr id="6" name="TextBox 6"/>
          <p:cNvSpPr txBox="1"/>
          <p:nvPr/>
        </p:nvSpPr>
        <p:spPr>
          <a:xfrm>
            <a:off x="992238" y="1702296"/>
            <a:ext cx="9566522" cy="772120"/>
          </a:xfrm>
          <a:prstGeom prst="rect">
            <a:avLst/>
          </a:prstGeom>
        </p:spPr>
        <p:txBody>
          <a:bodyPr lIns="0" tIns="0" rIns="0" bIns="0" rtlCol="0" anchor="t">
            <a:spAutoFit/>
          </a:bodyPr>
          <a:lstStyle/>
          <a:p>
            <a:pPr algn="l">
              <a:lnSpc>
                <a:spcPts val="5874"/>
              </a:lnSpc>
            </a:pPr>
            <a:r>
              <a:rPr lang="en-US" sz="4687" b="1">
                <a:solidFill>
                  <a:srgbClr val="030303"/>
                </a:solidFill>
                <a:latin typeface="DM Sans Bold"/>
                <a:ea typeface="DM Sans Bold"/>
                <a:cs typeface="DM Sans Bold"/>
                <a:sym typeface="DM Sans Bold"/>
              </a:rPr>
              <a:t>Device and Engagement Analysis</a:t>
            </a:r>
          </a:p>
        </p:txBody>
      </p:sp>
      <p:grpSp>
        <p:nvGrpSpPr>
          <p:cNvPr id="7" name="Group 7"/>
          <p:cNvGrpSpPr/>
          <p:nvPr/>
        </p:nvGrpSpPr>
        <p:grpSpPr>
          <a:xfrm>
            <a:off x="992238" y="3317825"/>
            <a:ext cx="5273874" cy="5247680"/>
            <a:chOff x="0" y="0"/>
            <a:chExt cx="7031832" cy="6996907"/>
          </a:xfrm>
        </p:grpSpPr>
        <p:sp>
          <p:nvSpPr>
            <p:cNvPr id="8" name="Freeform 8"/>
            <p:cNvSpPr/>
            <p:nvPr/>
          </p:nvSpPr>
          <p:spPr>
            <a:xfrm>
              <a:off x="0" y="0"/>
              <a:ext cx="7031863" cy="6996938"/>
            </a:xfrm>
            <a:custGeom>
              <a:avLst/>
              <a:gdLst/>
              <a:ahLst/>
              <a:cxnLst/>
              <a:rect l="l" t="t" r="r" b="b"/>
              <a:pathLst>
                <a:path w="7031863" h="6996938">
                  <a:moveTo>
                    <a:pt x="0" y="182880"/>
                  </a:moveTo>
                  <a:cubicBezTo>
                    <a:pt x="0" y="81915"/>
                    <a:pt x="81915" y="0"/>
                    <a:pt x="182880" y="0"/>
                  </a:cubicBezTo>
                  <a:lnTo>
                    <a:pt x="6848983" y="0"/>
                  </a:lnTo>
                  <a:cubicBezTo>
                    <a:pt x="6949948" y="0"/>
                    <a:pt x="7031863" y="81915"/>
                    <a:pt x="7031863" y="182880"/>
                  </a:cubicBezTo>
                  <a:lnTo>
                    <a:pt x="7031863" y="6814058"/>
                  </a:lnTo>
                  <a:cubicBezTo>
                    <a:pt x="7031863" y="6915023"/>
                    <a:pt x="6949948" y="6996938"/>
                    <a:pt x="6848983" y="6996938"/>
                  </a:cubicBezTo>
                  <a:lnTo>
                    <a:pt x="182880" y="6996938"/>
                  </a:lnTo>
                  <a:cubicBezTo>
                    <a:pt x="81915" y="6996938"/>
                    <a:pt x="0" y="6915023"/>
                    <a:pt x="0" y="6814058"/>
                  </a:cubicBezTo>
                  <a:close/>
                </a:path>
              </a:pathLst>
            </a:custGeom>
            <a:solidFill>
              <a:srgbClr val="FFFFFF"/>
            </a:solidFill>
          </p:spPr>
          <p:txBody>
            <a:bodyPr/>
            <a:lstStyle/>
            <a:p>
              <a:endParaRPr lang="en-IN"/>
            </a:p>
          </p:txBody>
        </p:sp>
      </p:grpSp>
      <p:grpSp>
        <p:nvGrpSpPr>
          <p:cNvPr id="9" name="Group 9"/>
          <p:cNvGrpSpPr/>
          <p:nvPr/>
        </p:nvGrpSpPr>
        <p:grpSpPr>
          <a:xfrm>
            <a:off x="992238" y="3289250"/>
            <a:ext cx="5273874" cy="114300"/>
            <a:chOff x="0" y="0"/>
            <a:chExt cx="7031832" cy="152400"/>
          </a:xfrm>
        </p:grpSpPr>
        <p:sp>
          <p:nvSpPr>
            <p:cNvPr id="10" name="Freeform 10"/>
            <p:cNvSpPr/>
            <p:nvPr/>
          </p:nvSpPr>
          <p:spPr>
            <a:xfrm>
              <a:off x="0" y="0"/>
              <a:ext cx="7031989" cy="152400"/>
            </a:xfrm>
            <a:custGeom>
              <a:avLst/>
              <a:gdLst/>
              <a:ahLst/>
              <a:cxnLst/>
              <a:rect l="l" t="t" r="r" b="b"/>
              <a:pathLst>
                <a:path w="7031989" h="152400">
                  <a:moveTo>
                    <a:pt x="0" y="48260"/>
                  </a:moveTo>
                  <a:cubicBezTo>
                    <a:pt x="0" y="21590"/>
                    <a:pt x="21590" y="0"/>
                    <a:pt x="48260" y="0"/>
                  </a:cubicBezTo>
                  <a:lnTo>
                    <a:pt x="6983730" y="0"/>
                  </a:lnTo>
                  <a:cubicBezTo>
                    <a:pt x="7010400" y="0"/>
                    <a:pt x="7031989" y="21590"/>
                    <a:pt x="7031989" y="48260"/>
                  </a:cubicBezTo>
                  <a:lnTo>
                    <a:pt x="7031989" y="104140"/>
                  </a:lnTo>
                  <a:cubicBezTo>
                    <a:pt x="7031989" y="130810"/>
                    <a:pt x="7010400" y="152400"/>
                    <a:pt x="6983730" y="152400"/>
                  </a:cubicBezTo>
                  <a:lnTo>
                    <a:pt x="48260" y="152400"/>
                  </a:lnTo>
                  <a:cubicBezTo>
                    <a:pt x="21590" y="152400"/>
                    <a:pt x="0" y="130810"/>
                    <a:pt x="0" y="104140"/>
                  </a:cubicBezTo>
                  <a:close/>
                </a:path>
              </a:pathLst>
            </a:custGeom>
            <a:solidFill>
              <a:srgbClr val="1C9770"/>
            </a:solidFill>
          </p:spPr>
          <p:txBody>
            <a:bodyPr/>
            <a:lstStyle/>
            <a:p>
              <a:endParaRPr lang="en-IN"/>
            </a:p>
          </p:txBody>
        </p:sp>
      </p:grpSp>
      <p:grpSp>
        <p:nvGrpSpPr>
          <p:cNvPr id="11" name="Group 11"/>
          <p:cNvGrpSpPr/>
          <p:nvPr/>
        </p:nvGrpSpPr>
        <p:grpSpPr>
          <a:xfrm>
            <a:off x="3267670" y="2956322"/>
            <a:ext cx="723007" cy="723007"/>
            <a:chOff x="0" y="0"/>
            <a:chExt cx="964010" cy="964010"/>
          </a:xfrm>
        </p:grpSpPr>
        <p:sp>
          <p:nvSpPr>
            <p:cNvPr id="12" name="Freeform 12"/>
            <p:cNvSpPr/>
            <p:nvPr/>
          </p:nvSpPr>
          <p:spPr>
            <a:xfrm>
              <a:off x="0" y="0"/>
              <a:ext cx="964057" cy="964057"/>
            </a:xfrm>
            <a:custGeom>
              <a:avLst/>
              <a:gdLst/>
              <a:ahLst/>
              <a:cxnLst/>
              <a:rect l="l" t="t" r="r" b="b"/>
              <a:pathLst>
                <a:path w="964057" h="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1C9770"/>
            </a:solidFill>
          </p:spPr>
          <p:txBody>
            <a:bodyPr/>
            <a:lstStyle/>
            <a:p>
              <a:endParaRPr lang="en-IN"/>
            </a:p>
          </p:txBody>
        </p:sp>
      </p:grpSp>
      <p:sp>
        <p:nvSpPr>
          <p:cNvPr id="13" name="Freeform 13" descr="preencoded.png"/>
          <p:cNvSpPr/>
          <p:nvPr/>
        </p:nvSpPr>
        <p:spPr>
          <a:xfrm>
            <a:off x="3484512" y="3173165"/>
            <a:ext cx="289172" cy="289172"/>
          </a:xfrm>
          <a:custGeom>
            <a:avLst/>
            <a:gdLst/>
            <a:ahLst/>
            <a:cxnLst/>
            <a:rect l="l" t="t" r="r" b="b"/>
            <a:pathLst>
              <a:path w="289172" h="289172">
                <a:moveTo>
                  <a:pt x="0" y="0"/>
                </a:moveTo>
                <a:lnTo>
                  <a:pt x="289173" y="0"/>
                </a:lnTo>
                <a:lnTo>
                  <a:pt x="289173" y="289172"/>
                </a:lnTo>
                <a:lnTo>
                  <a:pt x="0" y="289172"/>
                </a:lnTo>
                <a:lnTo>
                  <a:pt x="0" y="0"/>
                </a:lnTo>
                <a:close/>
              </a:path>
            </a:pathLst>
          </a:custGeom>
          <a:blipFill>
            <a:blip r:embed="rId3">
              <a:extLst>
                <a:ext uri="{96DAC541-7B7A-43D3-8B79-37D633B846F1}">
                  <asvg:svgBlip xmlns:asvg="http://schemas.microsoft.com/office/drawing/2016/SVG/main" r:embed="rId4"/>
                </a:ext>
              </a:extLst>
            </a:blip>
            <a:stretch>
              <a:fillRect l="-6451" r="-6451"/>
            </a:stretch>
          </a:blipFill>
        </p:spPr>
        <p:txBody>
          <a:bodyPr/>
          <a:lstStyle/>
          <a:p>
            <a:endParaRPr lang="en-IN"/>
          </a:p>
        </p:txBody>
      </p:sp>
      <p:sp>
        <p:nvSpPr>
          <p:cNvPr id="14" name="TextBox 14"/>
          <p:cNvSpPr txBox="1"/>
          <p:nvPr/>
        </p:nvSpPr>
        <p:spPr>
          <a:xfrm>
            <a:off x="1261765" y="3901231"/>
            <a:ext cx="4018210"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Optimizing for Every Screen</a:t>
            </a:r>
          </a:p>
        </p:txBody>
      </p:sp>
      <p:sp>
        <p:nvSpPr>
          <p:cNvPr id="15" name="TextBox 15"/>
          <p:cNvSpPr txBox="1"/>
          <p:nvPr/>
        </p:nvSpPr>
        <p:spPr>
          <a:xfrm>
            <a:off x="1261765" y="4365129"/>
            <a:ext cx="4734817" cy="3545384"/>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We analyze </a:t>
            </a:r>
            <a:r>
              <a:rPr lang="en-US" sz="1874" b="1">
                <a:solidFill>
                  <a:srgbClr val="464646"/>
                </a:solidFill>
                <a:latin typeface="Inter Bold"/>
                <a:ea typeface="Inter Bold"/>
                <a:cs typeface="Inter Bold"/>
                <a:sym typeface="Inter Bold"/>
              </a:rPr>
              <a:t>device usage across different post types</a:t>
            </a:r>
            <a:r>
              <a:rPr lang="en-US" sz="1874" b="1">
                <a:solidFill>
                  <a:srgbClr val="464646"/>
                </a:solidFill>
                <a:latin typeface="Inter Medium"/>
                <a:ea typeface="Inter Medium"/>
                <a:cs typeface="Inter Medium"/>
                <a:sym typeface="Inter Medium"/>
              </a:rPr>
              <a:t> to understand how our audience consumes content. This insight allows us to tailor our visuals and interactive elements, ensuring a seamless and engaging experience whether users are on mobile, tablet, or desktop, ultimately boosting reach and satisfaction.</a:t>
            </a:r>
          </a:p>
        </p:txBody>
      </p:sp>
      <p:grpSp>
        <p:nvGrpSpPr>
          <p:cNvPr id="16" name="Group 16"/>
          <p:cNvGrpSpPr/>
          <p:nvPr/>
        </p:nvGrpSpPr>
        <p:grpSpPr>
          <a:xfrm>
            <a:off x="6507064" y="3317825"/>
            <a:ext cx="5273874" cy="5247680"/>
            <a:chOff x="0" y="0"/>
            <a:chExt cx="7031832" cy="6996907"/>
          </a:xfrm>
        </p:grpSpPr>
        <p:sp>
          <p:nvSpPr>
            <p:cNvPr id="17" name="Freeform 17"/>
            <p:cNvSpPr/>
            <p:nvPr/>
          </p:nvSpPr>
          <p:spPr>
            <a:xfrm>
              <a:off x="0" y="0"/>
              <a:ext cx="7031863" cy="6996938"/>
            </a:xfrm>
            <a:custGeom>
              <a:avLst/>
              <a:gdLst/>
              <a:ahLst/>
              <a:cxnLst/>
              <a:rect l="l" t="t" r="r" b="b"/>
              <a:pathLst>
                <a:path w="7031863" h="6996938">
                  <a:moveTo>
                    <a:pt x="0" y="182880"/>
                  </a:moveTo>
                  <a:cubicBezTo>
                    <a:pt x="0" y="81915"/>
                    <a:pt x="81915" y="0"/>
                    <a:pt x="182880" y="0"/>
                  </a:cubicBezTo>
                  <a:lnTo>
                    <a:pt x="6848983" y="0"/>
                  </a:lnTo>
                  <a:cubicBezTo>
                    <a:pt x="6949948" y="0"/>
                    <a:pt x="7031863" y="81915"/>
                    <a:pt x="7031863" y="182880"/>
                  </a:cubicBezTo>
                  <a:lnTo>
                    <a:pt x="7031863" y="6814058"/>
                  </a:lnTo>
                  <a:cubicBezTo>
                    <a:pt x="7031863" y="6915023"/>
                    <a:pt x="6949948" y="6996938"/>
                    <a:pt x="6848983" y="6996938"/>
                  </a:cubicBezTo>
                  <a:lnTo>
                    <a:pt x="182880" y="6996938"/>
                  </a:lnTo>
                  <a:cubicBezTo>
                    <a:pt x="81915" y="6996938"/>
                    <a:pt x="0" y="6915023"/>
                    <a:pt x="0" y="6814058"/>
                  </a:cubicBezTo>
                  <a:close/>
                </a:path>
              </a:pathLst>
            </a:custGeom>
            <a:solidFill>
              <a:srgbClr val="FFFFFF"/>
            </a:solidFill>
          </p:spPr>
          <p:txBody>
            <a:bodyPr/>
            <a:lstStyle/>
            <a:p>
              <a:endParaRPr lang="en-IN"/>
            </a:p>
          </p:txBody>
        </p:sp>
      </p:grpSp>
      <p:grpSp>
        <p:nvGrpSpPr>
          <p:cNvPr id="18" name="Group 18"/>
          <p:cNvGrpSpPr/>
          <p:nvPr/>
        </p:nvGrpSpPr>
        <p:grpSpPr>
          <a:xfrm>
            <a:off x="6507064" y="3289250"/>
            <a:ext cx="5273874" cy="114300"/>
            <a:chOff x="0" y="0"/>
            <a:chExt cx="7031832" cy="152400"/>
          </a:xfrm>
        </p:grpSpPr>
        <p:sp>
          <p:nvSpPr>
            <p:cNvPr id="19" name="Freeform 19"/>
            <p:cNvSpPr/>
            <p:nvPr/>
          </p:nvSpPr>
          <p:spPr>
            <a:xfrm>
              <a:off x="0" y="0"/>
              <a:ext cx="7031989" cy="152400"/>
            </a:xfrm>
            <a:custGeom>
              <a:avLst/>
              <a:gdLst/>
              <a:ahLst/>
              <a:cxnLst/>
              <a:rect l="l" t="t" r="r" b="b"/>
              <a:pathLst>
                <a:path w="7031989" h="152400">
                  <a:moveTo>
                    <a:pt x="0" y="48260"/>
                  </a:moveTo>
                  <a:cubicBezTo>
                    <a:pt x="0" y="21590"/>
                    <a:pt x="21590" y="0"/>
                    <a:pt x="48260" y="0"/>
                  </a:cubicBezTo>
                  <a:lnTo>
                    <a:pt x="6983730" y="0"/>
                  </a:lnTo>
                  <a:cubicBezTo>
                    <a:pt x="7010400" y="0"/>
                    <a:pt x="7031989" y="21590"/>
                    <a:pt x="7031989" y="48260"/>
                  </a:cubicBezTo>
                  <a:lnTo>
                    <a:pt x="7031989" y="104140"/>
                  </a:lnTo>
                  <a:cubicBezTo>
                    <a:pt x="7031989" y="130810"/>
                    <a:pt x="7010400" y="152400"/>
                    <a:pt x="6983730" y="152400"/>
                  </a:cubicBezTo>
                  <a:lnTo>
                    <a:pt x="48260" y="152400"/>
                  </a:lnTo>
                  <a:cubicBezTo>
                    <a:pt x="21590" y="152400"/>
                    <a:pt x="0" y="130810"/>
                    <a:pt x="0" y="104140"/>
                  </a:cubicBezTo>
                  <a:close/>
                </a:path>
              </a:pathLst>
            </a:custGeom>
            <a:solidFill>
              <a:srgbClr val="1C9770"/>
            </a:solidFill>
          </p:spPr>
          <p:txBody>
            <a:bodyPr/>
            <a:lstStyle/>
            <a:p>
              <a:endParaRPr lang="en-IN"/>
            </a:p>
          </p:txBody>
        </p:sp>
      </p:grpSp>
      <p:grpSp>
        <p:nvGrpSpPr>
          <p:cNvPr id="20" name="Group 20"/>
          <p:cNvGrpSpPr/>
          <p:nvPr/>
        </p:nvGrpSpPr>
        <p:grpSpPr>
          <a:xfrm>
            <a:off x="8782496" y="2956322"/>
            <a:ext cx="723008" cy="723007"/>
            <a:chOff x="0" y="0"/>
            <a:chExt cx="964010" cy="964010"/>
          </a:xfrm>
        </p:grpSpPr>
        <p:sp>
          <p:nvSpPr>
            <p:cNvPr id="21" name="Freeform 21"/>
            <p:cNvSpPr/>
            <p:nvPr/>
          </p:nvSpPr>
          <p:spPr>
            <a:xfrm>
              <a:off x="0" y="0"/>
              <a:ext cx="964057" cy="964057"/>
            </a:xfrm>
            <a:custGeom>
              <a:avLst/>
              <a:gdLst/>
              <a:ahLst/>
              <a:cxnLst/>
              <a:rect l="l" t="t" r="r" b="b"/>
              <a:pathLst>
                <a:path w="964057" h="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1C9770"/>
            </a:solidFill>
          </p:spPr>
          <p:txBody>
            <a:bodyPr/>
            <a:lstStyle/>
            <a:p>
              <a:endParaRPr lang="en-IN"/>
            </a:p>
          </p:txBody>
        </p:sp>
      </p:grpSp>
      <p:sp>
        <p:nvSpPr>
          <p:cNvPr id="22" name="TextBox 22"/>
          <p:cNvSpPr txBox="1"/>
          <p:nvPr/>
        </p:nvSpPr>
        <p:spPr>
          <a:xfrm>
            <a:off x="8999339" y="3041749"/>
            <a:ext cx="289172" cy="456754"/>
          </a:xfrm>
          <a:prstGeom prst="rect">
            <a:avLst/>
          </a:prstGeom>
        </p:spPr>
        <p:txBody>
          <a:bodyPr lIns="0" tIns="0" rIns="0" bIns="0" rtlCol="0" anchor="t">
            <a:spAutoFit/>
          </a:bodyPr>
          <a:lstStyle/>
          <a:p>
            <a:pPr algn="l">
              <a:lnSpc>
                <a:spcPts val="3624"/>
              </a:lnSpc>
            </a:pPr>
            <a:r>
              <a:rPr lang="en-US" sz="2249" b="1">
                <a:solidFill>
                  <a:srgbClr val="FFFFFF"/>
                </a:solidFill>
                <a:latin typeface="DM Sans Bold"/>
                <a:ea typeface="DM Sans Bold"/>
                <a:cs typeface="DM Sans Bold"/>
                <a:sym typeface="DM Sans Bold"/>
              </a:rPr>
              <a:t>2</a:t>
            </a:r>
          </a:p>
        </p:txBody>
      </p:sp>
      <p:sp>
        <p:nvSpPr>
          <p:cNvPr id="23" name="TextBox 23"/>
          <p:cNvSpPr txBox="1"/>
          <p:nvPr/>
        </p:nvSpPr>
        <p:spPr>
          <a:xfrm>
            <a:off x="6776591" y="3901231"/>
            <a:ext cx="4603551"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Unpacking Engagement Metrics</a:t>
            </a:r>
          </a:p>
        </p:txBody>
      </p:sp>
      <p:sp>
        <p:nvSpPr>
          <p:cNvPr id="24" name="TextBox 24"/>
          <p:cNvSpPr txBox="1"/>
          <p:nvPr/>
        </p:nvSpPr>
        <p:spPr>
          <a:xfrm>
            <a:off x="6776591" y="4365129"/>
            <a:ext cx="4734818" cy="315991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By studying the </a:t>
            </a:r>
            <a:r>
              <a:rPr lang="en-US" sz="1874" b="1">
                <a:solidFill>
                  <a:srgbClr val="464646"/>
                </a:solidFill>
                <a:latin typeface="Inter Bold"/>
                <a:ea typeface="Inter Bold"/>
                <a:cs typeface="Inter Bold"/>
                <a:sym typeface="Inter Bold"/>
              </a:rPr>
              <a:t>distribution of numerical metrics</a:t>
            </a:r>
            <a:r>
              <a:rPr lang="en-US" sz="1874" b="1">
                <a:solidFill>
                  <a:srgbClr val="464646"/>
                </a:solidFill>
                <a:latin typeface="Inter Medium"/>
                <a:ea typeface="Inter Medium"/>
                <a:cs typeface="Inter Medium"/>
                <a:sym typeface="Inter Medium"/>
              </a:rPr>
              <a:t> like followers, likes, and comments, we gain a clear picture of what "typical" engagement looks like. This helps us identify top-performing content, understand audience thresholds, and set realistic, data-driven goals for our campaigns.</a:t>
            </a:r>
          </a:p>
        </p:txBody>
      </p:sp>
      <p:grpSp>
        <p:nvGrpSpPr>
          <p:cNvPr id="25" name="Group 25"/>
          <p:cNvGrpSpPr/>
          <p:nvPr/>
        </p:nvGrpSpPr>
        <p:grpSpPr>
          <a:xfrm>
            <a:off x="12021890" y="3317825"/>
            <a:ext cx="5273874" cy="5247680"/>
            <a:chOff x="0" y="0"/>
            <a:chExt cx="7031832" cy="6996907"/>
          </a:xfrm>
        </p:grpSpPr>
        <p:sp>
          <p:nvSpPr>
            <p:cNvPr id="26" name="Freeform 26"/>
            <p:cNvSpPr/>
            <p:nvPr/>
          </p:nvSpPr>
          <p:spPr>
            <a:xfrm>
              <a:off x="0" y="0"/>
              <a:ext cx="7031863" cy="6996938"/>
            </a:xfrm>
            <a:custGeom>
              <a:avLst/>
              <a:gdLst/>
              <a:ahLst/>
              <a:cxnLst/>
              <a:rect l="l" t="t" r="r" b="b"/>
              <a:pathLst>
                <a:path w="7031863" h="6996938">
                  <a:moveTo>
                    <a:pt x="0" y="182880"/>
                  </a:moveTo>
                  <a:cubicBezTo>
                    <a:pt x="0" y="81915"/>
                    <a:pt x="81915" y="0"/>
                    <a:pt x="182880" y="0"/>
                  </a:cubicBezTo>
                  <a:lnTo>
                    <a:pt x="6848983" y="0"/>
                  </a:lnTo>
                  <a:cubicBezTo>
                    <a:pt x="6949948" y="0"/>
                    <a:pt x="7031863" y="81915"/>
                    <a:pt x="7031863" y="182880"/>
                  </a:cubicBezTo>
                  <a:lnTo>
                    <a:pt x="7031863" y="6814058"/>
                  </a:lnTo>
                  <a:cubicBezTo>
                    <a:pt x="7031863" y="6915023"/>
                    <a:pt x="6949948" y="6996938"/>
                    <a:pt x="6848983" y="6996938"/>
                  </a:cubicBezTo>
                  <a:lnTo>
                    <a:pt x="182880" y="6996938"/>
                  </a:lnTo>
                  <a:cubicBezTo>
                    <a:pt x="81915" y="6996938"/>
                    <a:pt x="0" y="6915023"/>
                    <a:pt x="0" y="6814058"/>
                  </a:cubicBezTo>
                  <a:close/>
                </a:path>
              </a:pathLst>
            </a:custGeom>
            <a:solidFill>
              <a:srgbClr val="FFFFFF"/>
            </a:solidFill>
          </p:spPr>
          <p:txBody>
            <a:bodyPr/>
            <a:lstStyle/>
            <a:p>
              <a:endParaRPr lang="en-IN"/>
            </a:p>
          </p:txBody>
        </p:sp>
      </p:grpSp>
      <p:grpSp>
        <p:nvGrpSpPr>
          <p:cNvPr id="27" name="Group 27"/>
          <p:cNvGrpSpPr/>
          <p:nvPr/>
        </p:nvGrpSpPr>
        <p:grpSpPr>
          <a:xfrm>
            <a:off x="12021890" y="3289250"/>
            <a:ext cx="5273874" cy="114300"/>
            <a:chOff x="0" y="0"/>
            <a:chExt cx="7031832" cy="152400"/>
          </a:xfrm>
        </p:grpSpPr>
        <p:sp>
          <p:nvSpPr>
            <p:cNvPr id="28" name="Freeform 28"/>
            <p:cNvSpPr/>
            <p:nvPr/>
          </p:nvSpPr>
          <p:spPr>
            <a:xfrm>
              <a:off x="0" y="0"/>
              <a:ext cx="7031989" cy="152400"/>
            </a:xfrm>
            <a:custGeom>
              <a:avLst/>
              <a:gdLst/>
              <a:ahLst/>
              <a:cxnLst/>
              <a:rect l="l" t="t" r="r" b="b"/>
              <a:pathLst>
                <a:path w="7031989" h="152400">
                  <a:moveTo>
                    <a:pt x="0" y="48260"/>
                  </a:moveTo>
                  <a:cubicBezTo>
                    <a:pt x="0" y="21590"/>
                    <a:pt x="21590" y="0"/>
                    <a:pt x="48260" y="0"/>
                  </a:cubicBezTo>
                  <a:lnTo>
                    <a:pt x="6983730" y="0"/>
                  </a:lnTo>
                  <a:cubicBezTo>
                    <a:pt x="7010400" y="0"/>
                    <a:pt x="7031989" y="21590"/>
                    <a:pt x="7031989" y="48260"/>
                  </a:cubicBezTo>
                  <a:lnTo>
                    <a:pt x="7031989" y="104140"/>
                  </a:lnTo>
                  <a:cubicBezTo>
                    <a:pt x="7031989" y="130810"/>
                    <a:pt x="7010400" y="152400"/>
                    <a:pt x="6983730" y="152400"/>
                  </a:cubicBezTo>
                  <a:lnTo>
                    <a:pt x="48260" y="152400"/>
                  </a:lnTo>
                  <a:cubicBezTo>
                    <a:pt x="21590" y="152400"/>
                    <a:pt x="0" y="130810"/>
                    <a:pt x="0" y="104140"/>
                  </a:cubicBezTo>
                  <a:close/>
                </a:path>
              </a:pathLst>
            </a:custGeom>
            <a:solidFill>
              <a:srgbClr val="1C9770"/>
            </a:solidFill>
          </p:spPr>
          <p:txBody>
            <a:bodyPr/>
            <a:lstStyle/>
            <a:p>
              <a:endParaRPr lang="en-IN"/>
            </a:p>
          </p:txBody>
        </p:sp>
      </p:grpSp>
      <p:grpSp>
        <p:nvGrpSpPr>
          <p:cNvPr id="29" name="Group 29"/>
          <p:cNvGrpSpPr/>
          <p:nvPr/>
        </p:nvGrpSpPr>
        <p:grpSpPr>
          <a:xfrm>
            <a:off x="14297322" y="2956322"/>
            <a:ext cx="723008" cy="723007"/>
            <a:chOff x="0" y="0"/>
            <a:chExt cx="964010" cy="964010"/>
          </a:xfrm>
        </p:grpSpPr>
        <p:sp>
          <p:nvSpPr>
            <p:cNvPr id="30" name="Freeform 30"/>
            <p:cNvSpPr/>
            <p:nvPr/>
          </p:nvSpPr>
          <p:spPr>
            <a:xfrm>
              <a:off x="0" y="0"/>
              <a:ext cx="964057" cy="964057"/>
            </a:xfrm>
            <a:custGeom>
              <a:avLst/>
              <a:gdLst/>
              <a:ahLst/>
              <a:cxnLst/>
              <a:rect l="l" t="t" r="r" b="b"/>
              <a:pathLst>
                <a:path w="964057" h="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1C9770"/>
            </a:solidFill>
          </p:spPr>
          <p:txBody>
            <a:bodyPr/>
            <a:lstStyle/>
            <a:p>
              <a:endParaRPr lang="en-IN"/>
            </a:p>
          </p:txBody>
        </p:sp>
      </p:grpSp>
      <p:sp>
        <p:nvSpPr>
          <p:cNvPr id="31" name="TextBox 31"/>
          <p:cNvSpPr txBox="1"/>
          <p:nvPr/>
        </p:nvSpPr>
        <p:spPr>
          <a:xfrm>
            <a:off x="14514165" y="3041749"/>
            <a:ext cx="289172" cy="456754"/>
          </a:xfrm>
          <a:prstGeom prst="rect">
            <a:avLst/>
          </a:prstGeom>
        </p:spPr>
        <p:txBody>
          <a:bodyPr lIns="0" tIns="0" rIns="0" bIns="0" rtlCol="0" anchor="t">
            <a:spAutoFit/>
          </a:bodyPr>
          <a:lstStyle/>
          <a:p>
            <a:pPr algn="l">
              <a:lnSpc>
                <a:spcPts val="3624"/>
              </a:lnSpc>
            </a:pPr>
            <a:r>
              <a:rPr lang="en-US" sz="2249" b="1">
                <a:solidFill>
                  <a:srgbClr val="FFFFFF"/>
                </a:solidFill>
                <a:latin typeface="DM Sans Bold"/>
                <a:ea typeface="DM Sans Bold"/>
                <a:cs typeface="DM Sans Bold"/>
                <a:sym typeface="DM Sans Bold"/>
              </a:rPr>
              <a:t>3</a:t>
            </a:r>
          </a:p>
        </p:txBody>
      </p:sp>
      <p:sp>
        <p:nvSpPr>
          <p:cNvPr id="32" name="TextBox 32"/>
          <p:cNvSpPr txBox="1"/>
          <p:nvPr/>
        </p:nvSpPr>
        <p:spPr>
          <a:xfrm>
            <a:off x="12291417" y="3901231"/>
            <a:ext cx="4431358"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Followers vs. True Engagement</a:t>
            </a:r>
          </a:p>
        </p:txBody>
      </p:sp>
      <p:sp>
        <p:nvSpPr>
          <p:cNvPr id="33" name="TextBox 33"/>
          <p:cNvSpPr txBox="1"/>
          <p:nvPr/>
        </p:nvSpPr>
        <p:spPr>
          <a:xfrm>
            <a:off x="12291417" y="4365129"/>
            <a:ext cx="4734818" cy="393084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A </a:t>
            </a:r>
            <a:r>
              <a:rPr lang="en-US" sz="1874" b="1">
                <a:solidFill>
                  <a:srgbClr val="464646"/>
                </a:solidFill>
                <a:latin typeface="Inter Bold"/>
                <a:ea typeface="Inter Bold"/>
                <a:cs typeface="Inter Bold"/>
                <a:sym typeface="Inter Bold"/>
              </a:rPr>
              <a:t>scatter plot reveals the relationship between follower count and engagement rate</a:t>
            </a:r>
            <a:r>
              <a:rPr lang="en-US" sz="1874" b="1">
                <a:solidFill>
                  <a:srgbClr val="464646"/>
                </a:solidFill>
                <a:latin typeface="Inter Medium"/>
                <a:ea typeface="Inter Medium"/>
                <a:cs typeface="Inter Medium"/>
                <a:sym typeface="Inter Medium"/>
              </a:rPr>
              <a:t>. This crucial analysis helps us distinguish vanity metrics from true influence. We can identify profiles that generate high engagement regardless of follower size, informing more effective influencer collaborations and content strategies that resonate deeply with communities.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sp>
        <p:nvSpPr>
          <p:cNvPr id="6" name="TextBox 6"/>
          <p:cNvSpPr txBox="1"/>
          <p:nvPr/>
        </p:nvSpPr>
        <p:spPr>
          <a:xfrm>
            <a:off x="992238" y="1302544"/>
            <a:ext cx="6025009" cy="772120"/>
          </a:xfrm>
          <a:prstGeom prst="rect">
            <a:avLst/>
          </a:prstGeom>
        </p:spPr>
        <p:txBody>
          <a:bodyPr lIns="0" tIns="0" rIns="0" bIns="0" rtlCol="0" anchor="t">
            <a:spAutoFit/>
          </a:bodyPr>
          <a:lstStyle/>
          <a:p>
            <a:pPr algn="l">
              <a:lnSpc>
                <a:spcPts val="5874"/>
              </a:lnSpc>
            </a:pPr>
            <a:r>
              <a:rPr lang="en-US" sz="4687" b="1">
                <a:solidFill>
                  <a:srgbClr val="030303"/>
                </a:solidFill>
                <a:latin typeface="DM Sans Bold"/>
                <a:ea typeface="DM Sans Bold"/>
                <a:cs typeface="DM Sans Bold"/>
                <a:sym typeface="DM Sans Bold"/>
              </a:rPr>
              <a:t>Key Insights</a:t>
            </a:r>
          </a:p>
        </p:txBody>
      </p:sp>
      <p:grpSp>
        <p:nvGrpSpPr>
          <p:cNvPr id="7" name="Group 7"/>
          <p:cNvGrpSpPr/>
          <p:nvPr/>
        </p:nvGrpSpPr>
        <p:grpSpPr>
          <a:xfrm>
            <a:off x="977950" y="2542282"/>
            <a:ext cx="5302449" cy="6437262"/>
            <a:chOff x="0" y="0"/>
            <a:chExt cx="7069932" cy="8583017"/>
          </a:xfrm>
        </p:grpSpPr>
        <p:sp>
          <p:nvSpPr>
            <p:cNvPr id="8" name="Freeform 8"/>
            <p:cNvSpPr/>
            <p:nvPr/>
          </p:nvSpPr>
          <p:spPr>
            <a:xfrm>
              <a:off x="19050" y="19050"/>
              <a:ext cx="7031736" cy="8544941"/>
            </a:xfrm>
            <a:custGeom>
              <a:avLst/>
              <a:gdLst/>
              <a:ahLst/>
              <a:cxnLst/>
              <a:rect l="l" t="t" r="r" b="b"/>
              <a:pathLst>
                <a:path w="7031736" h="8544941">
                  <a:moveTo>
                    <a:pt x="0" y="48260"/>
                  </a:moveTo>
                  <a:cubicBezTo>
                    <a:pt x="0" y="21590"/>
                    <a:pt x="21590" y="0"/>
                    <a:pt x="48133" y="0"/>
                  </a:cubicBezTo>
                  <a:lnTo>
                    <a:pt x="6983602" y="0"/>
                  </a:lnTo>
                  <a:cubicBezTo>
                    <a:pt x="7010146" y="0"/>
                    <a:pt x="7031736" y="21590"/>
                    <a:pt x="7031736" y="48260"/>
                  </a:cubicBezTo>
                  <a:lnTo>
                    <a:pt x="7031736" y="8496681"/>
                  </a:lnTo>
                  <a:cubicBezTo>
                    <a:pt x="7031736" y="8523351"/>
                    <a:pt x="7010146" y="8544941"/>
                    <a:pt x="6983602" y="8544941"/>
                  </a:cubicBezTo>
                  <a:lnTo>
                    <a:pt x="48133" y="8544941"/>
                  </a:lnTo>
                  <a:cubicBezTo>
                    <a:pt x="21590" y="8544941"/>
                    <a:pt x="0" y="8523351"/>
                    <a:pt x="0" y="8496681"/>
                  </a:cubicBezTo>
                  <a:close/>
                </a:path>
              </a:pathLst>
            </a:custGeom>
            <a:solidFill>
              <a:srgbClr val="FFFFFF"/>
            </a:solidFill>
          </p:spPr>
          <p:txBody>
            <a:bodyPr/>
            <a:lstStyle/>
            <a:p>
              <a:endParaRPr lang="en-IN"/>
            </a:p>
          </p:txBody>
        </p:sp>
        <p:sp>
          <p:nvSpPr>
            <p:cNvPr id="9" name="Freeform 9"/>
            <p:cNvSpPr/>
            <p:nvPr/>
          </p:nvSpPr>
          <p:spPr>
            <a:xfrm>
              <a:off x="0" y="0"/>
              <a:ext cx="7069836" cy="8583041"/>
            </a:xfrm>
            <a:custGeom>
              <a:avLst/>
              <a:gdLst/>
              <a:ahLst/>
              <a:cxnLst/>
              <a:rect l="l" t="t" r="r" b="b"/>
              <a:pathLst>
                <a:path w="7069836" h="8583041">
                  <a:moveTo>
                    <a:pt x="0" y="67310"/>
                  </a:moveTo>
                  <a:cubicBezTo>
                    <a:pt x="0" y="30099"/>
                    <a:pt x="30099" y="0"/>
                    <a:pt x="67183" y="0"/>
                  </a:cubicBezTo>
                  <a:lnTo>
                    <a:pt x="7002652" y="0"/>
                  </a:lnTo>
                  <a:lnTo>
                    <a:pt x="7002652" y="19050"/>
                  </a:lnTo>
                  <a:lnTo>
                    <a:pt x="7002652" y="0"/>
                  </a:lnTo>
                  <a:cubicBezTo>
                    <a:pt x="7039737" y="0"/>
                    <a:pt x="7069836" y="30099"/>
                    <a:pt x="7069836" y="67310"/>
                  </a:cubicBezTo>
                  <a:lnTo>
                    <a:pt x="7050786" y="67310"/>
                  </a:lnTo>
                  <a:lnTo>
                    <a:pt x="7069836" y="67310"/>
                  </a:lnTo>
                  <a:lnTo>
                    <a:pt x="7069836" y="8515731"/>
                  </a:lnTo>
                  <a:lnTo>
                    <a:pt x="7050786" y="8515731"/>
                  </a:lnTo>
                  <a:lnTo>
                    <a:pt x="7069836" y="8515731"/>
                  </a:lnTo>
                  <a:cubicBezTo>
                    <a:pt x="7069836" y="8552815"/>
                    <a:pt x="7039737" y="8583041"/>
                    <a:pt x="7002652" y="8583041"/>
                  </a:cubicBezTo>
                  <a:lnTo>
                    <a:pt x="7002652" y="8563991"/>
                  </a:lnTo>
                  <a:lnTo>
                    <a:pt x="7002652" y="8583041"/>
                  </a:lnTo>
                  <a:lnTo>
                    <a:pt x="67183" y="8583041"/>
                  </a:lnTo>
                  <a:lnTo>
                    <a:pt x="67183" y="8563991"/>
                  </a:lnTo>
                  <a:lnTo>
                    <a:pt x="67183" y="8583041"/>
                  </a:lnTo>
                  <a:cubicBezTo>
                    <a:pt x="30099" y="8583041"/>
                    <a:pt x="0" y="8552942"/>
                    <a:pt x="0" y="8515731"/>
                  </a:cubicBezTo>
                  <a:lnTo>
                    <a:pt x="0" y="67310"/>
                  </a:lnTo>
                  <a:lnTo>
                    <a:pt x="19050" y="67310"/>
                  </a:lnTo>
                  <a:lnTo>
                    <a:pt x="0" y="67310"/>
                  </a:lnTo>
                  <a:moveTo>
                    <a:pt x="38100" y="67310"/>
                  </a:moveTo>
                  <a:lnTo>
                    <a:pt x="38100" y="8515731"/>
                  </a:lnTo>
                  <a:lnTo>
                    <a:pt x="19050" y="8515731"/>
                  </a:lnTo>
                  <a:lnTo>
                    <a:pt x="38100" y="8515731"/>
                  </a:lnTo>
                  <a:cubicBezTo>
                    <a:pt x="38100" y="8531861"/>
                    <a:pt x="51181" y="8544941"/>
                    <a:pt x="67183" y="8544941"/>
                  </a:cubicBezTo>
                  <a:lnTo>
                    <a:pt x="7002652" y="8544941"/>
                  </a:lnTo>
                  <a:cubicBezTo>
                    <a:pt x="7018655" y="8544941"/>
                    <a:pt x="7031736" y="8531861"/>
                    <a:pt x="7031736" y="8515731"/>
                  </a:cubicBezTo>
                  <a:lnTo>
                    <a:pt x="7031736" y="67310"/>
                  </a:lnTo>
                  <a:cubicBezTo>
                    <a:pt x="7031736" y="51181"/>
                    <a:pt x="7018655" y="38100"/>
                    <a:pt x="7002652" y="38100"/>
                  </a:cubicBezTo>
                  <a:lnTo>
                    <a:pt x="67183" y="38100"/>
                  </a:lnTo>
                  <a:lnTo>
                    <a:pt x="67183" y="19050"/>
                  </a:lnTo>
                  <a:lnTo>
                    <a:pt x="67183" y="38100"/>
                  </a:lnTo>
                  <a:cubicBezTo>
                    <a:pt x="51181" y="38100"/>
                    <a:pt x="38100" y="51181"/>
                    <a:pt x="38100" y="67310"/>
                  </a:cubicBezTo>
                  <a:close/>
                </a:path>
              </a:pathLst>
            </a:custGeom>
            <a:solidFill>
              <a:srgbClr val="D8D4D4"/>
            </a:solidFill>
          </p:spPr>
          <p:txBody>
            <a:bodyPr/>
            <a:lstStyle/>
            <a:p>
              <a:endParaRPr lang="en-IN"/>
            </a:p>
          </p:txBody>
        </p:sp>
      </p:grpSp>
      <p:grpSp>
        <p:nvGrpSpPr>
          <p:cNvPr id="10" name="Group 10"/>
          <p:cNvGrpSpPr/>
          <p:nvPr/>
        </p:nvGrpSpPr>
        <p:grpSpPr>
          <a:xfrm>
            <a:off x="1020812" y="2585145"/>
            <a:ext cx="5216724" cy="723007"/>
            <a:chOff x="0" y="0"/>
            <a:chExt cx="6955632" cy="964010"/>
          </a:xfrm>
        </p:grpSpPr>
        <p:sp>
          <p:nvSpPr>
            <p:cNvPr id="11" name="Freeform 11"/>
            <p:cNvSpPr/>
            <p:nvPr/>
          </p:nvSpPr>
          <p:spPr>
            <a:xfrm>
              <a:off x="0" y="0"/>
              <a:ext cx="6955790" cy="964057"/>
            </a:xfrm>
            <a:custGeom>
              <a:avLst/>
              <a:gdLst/>
              <a:ahLst/>
              <a:cxnLst/>
              <a:rect l="l" t="t" r="r" b="b"/>
              <a:pathLst>
                <a:path w="6955790" h="964057">
                  <a:moveTo>
                    <a:pt x="0" y="2540"/>
                  </a:moveTo>
                  <a:cubicBezTo>
                    <a:pt x="0" y="1143"/>
                    <a:pt x="1143" y="0"/>
                    <a:pt x="2540" y="0"/>
                  </a:cubicBezTo>
                  <a:lnTo>
                    <a:pt x="6953250" y="0"/>
                  </a:lnTo>
                  <a:cubicBezTo>
                    <a:pt x="6954647" y="0"/>
                    <a:pt x="6955790" y="1143"/>
                    <a:pt x="6955790" y="2540"/>
                  </a:cubicBezTo>
                  <a:lnTo>
                    <a:pt x="6955790" y="961517"/>
                  </a:lnTo>
                  <a:cubicBezTo>
                    <a:pt x="6955790" y="962914"/>
                    <a:pt x="6954647" y="964057"/>
                    <a:pt x="6953250" y="964057"/>
                  </a:cubicBezTo>
                  <a:lnTo>
                    <a:pt x="2540" y="964057"/>
                  </a:lnTo>
                  <a:cubicBezTo>
                    <a:pt x="1143" y="964057"/>
                    <a:pt x="0" y="962914"/>
                    <a:pt x="0" y="961517"/>
                  </a:cubicBezTo>
                  <a:close/>
                </a:path>
              </a:pathLst>
            </a:custGeom>
            <a:solidFill>
              <a:srgbClr val="F2EEEE"/>
            </a:solidFill>
          </p:spPr>
          <p:txBody>
            <a:bodyPr/>
            <a:lstStyle/>
            <a:p>
              <a:endParaRPr lang="en-IN"/>
            </a:p>
          </p:txBody>
        </p:sp>
      </p:grpSp>
      <p:sp>
        <p:nvSpPr>
          <p:cNvPr id="12" name="Freeform 12" descr="preencoded.png"/>
          <p:cNvSpPr/>
          <p:nvPr/>
        </p:nvSpPr>
        <p:spPr>
          <a:xfrm>
            <a:off x="3448347" y="2765821"/>
            <a:ext cx="361504" cy="361504"/>
          </a:xfrm>
          <a:custGeom>
            <a:avLst/>
            <a:gdLst/>
            <a:ahLst/>
            <a:cxnLst/>
            <a:rect l="l" t="t" r="r" b="b"/>
            <a:pathLst>
              <a:path w="361504" h="361504">
                <a:moveTo>
                  <a:pt x="0" y="0"/>
                </a:moveTo>
                <a:lnTo>
                  <a:pt x="361504" y="0"/>
                </a:lnTo>
                <a:lnTo>
                  <a:pt x="361504" y="361504"/>
                </a:lnTo>
                <a:lnTo>
                  <a:pt x="0" y="361504"/>
                </a:lnTo>
                <a:lnTo>
                  <a:pt x="0" y="0"/>
                </a:lnTo>
                <a:close/>
              </a:path>
            </a:pathLst>
          </a:custGeom>
          <a:blipFill>
            <a:blip r:embed="rId3">
              <a:extLst>
                <a:ext uri="{96DAC541-7B7A-43D3-8B79-37D633B846F1}">
                  <asvg:svgBlip xmlns:asvg="http://schemas.microsoft.com/office/drawing/2016/SVG/main" r:embed="rId4"/>
                </a:ext>
              </a:extLst>
            </a:blip>
            <a:stretch>
              <a:fillRect l="-13157" r="-13157"/>
            </a:stretch>
          </a:blipFill>
        </p:spPr>
        <p:txBody>
          <a:bodyPr/>
          <a:lstStyle/>
          <a:p>
            <a:endParaRPr lang="en-IN"/>
          </a:p>
        </p:txBody>
      </p:sp>
      <p:sp>
        <p:nvSpPr>
          <p:cNvPr id="13" name="TextBox 13"/>
          <p:cNvSpPr txBox="1"/>
          <p:nvPr/>
        </p:nvSpPr>
        <p:spPr>
          <a:xfrm>
            <a:off x="1261765" y="3530054"/>
            <a:ext cx="3012430"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Global Urban Reach</a:t>
            </a:r>
          </a:p>
        </p:txBody>
      </p:sp>
      <p:sp>
        <p:nvSpPr>
          <p:cNvPr id="14" name="TextBox 14"/>
          <p:cNvSpPr txBox="1"/>
          <p:nvPr/>
        </p:nvSpPr>
        <p:spPr>
          <a:xfrm>
            <a:off x="1261765" y="3993951"/>
            <a:ext cx="4734817" cy="470177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Our analysis reveals a significant concentration of users in key global cities: Tokyo, Delhi, Mumbai, and Paris. Approximately </a:t>
            </a:r>
            <a:r>
              <a:rPr lang="en-US" sz="1874" b="1">
                <a:solidFill>
                  <a:srgbClr val="464646"/>
                </a:solidFill>
                <a:latin typeface="Inter Bold"/>
                <a:ea typeface="Inter Bold"/>
                <a:cs typeface="Inter Bold"/>
                <a:sym typeface="Inter Bold"/>
              </a:rPr>
              <a:t>60% of our active user base resides in these metropolitan areas</a:t>
            </a:r>
            <a:r>
              <a:rPr lang="en-US" sz="1874" b="1">
                <a:solidFill>
                  <a:srgbClr val="464646"/>
                </a:solidFill>
                <a:latin typeface="Inter Medium"/>
                <a:ea typeface="Inter Medium"/>
                <a:cs typeface="Inter Medium"/>
                <a:sym typeface="Inter Medium"/>
              </a:rPr>
              <a:t>. This insight is crucial for geo-targeting ad campaigns, localizing content themes, and planning community events, ensuring our efforts resonate directly with dense user clusters for maximum impact on Instagram.</a:t>
            </a:r>
          </a:p>
        </p:txBody>
      </p:sp>
      <p:grpSp>
        <p:nvGrpSpPr>
          <p:cNvPr id="15" name="Group 15"/>
          <p:cNvGrpSpPr/>
          <p:nvPr/>
        </p:nvGrpSpPr>
        <p:grpSpPr>
          <a:xfrm>
            <a:off x="6492776" y="2542282"/>
            <a:ext cx="5302449" cy="6437262"/>
            <a:chOff x="0" y="0"/>
            <a:chExt cx="7069932" cy="8583017"/>
          </a:xfrm>
        </p:grpSpPr>
        <p:sp>
          <p:nvSpPr>
            <p:cNvPr id="16" name="Freeform 16"/>
            <p:cNvSpPr/>
            <p:nvPr/>
          </p:nvSpPr>
          <p:spPr>
            <a:xfrm>
              <a:off x="19050" y="19050"/>
              <a:ext cx="7031736" cy="8544941"/>
            </a:xfrm>
            <a:custGeom>
              <a:avLst/>
              <a:gdLst/>
              <a:ahLst/>
              <a:cxnLst/>
              <a:rect l="l" t="t" r="r" b="b"/>
              <a:pathLst>
                <a:path w="7031736" h="8544941">
                  <a:moveTo>
                    <a:pt x="0" y="48260"/>
                  </a:moveTo>
                  <a:cubicBezTo>
                    <a:pt x="0" y="21590"/>
                    <a:pt x="21590" y="0"/>
                    <a:pt x="48133" y="0"/>
                  </a:cubicBezTo>
                  <a:lnTo>
                    <a:pt x="6983602" y="0"/>
                  </a:lnTo>
                  <a:cubicBezTo>
                    <a:pt x="7010146" y="0"/>
                    <a:pt x="7031736" y="21590"/>
                    <a:pt x="7031736" y="48260"/>
                  </a:cubicBezTo>
                  <a:lnTo>
                    <a:pt x="7031736" y="8496681"/>
                  </a:lnTo>
                  <a:cubicBezTo>
                    <a:pt x="7031736" y="8523351"/>
                    <a:pt x="7010146" y="8544941"/>
                    <a:pt x="6983602" y="8544941"/>
                  </a:cubicBezTo>
                  <a:lnTo>
                    <a:pt x="48133" y="8544941"/>
                  </a:lnTo>
                  <a:cubicBezTo>
                    <a:pt x="21590" y="8544941"/>
                    <a:pt x="0" y="8523351"/>
                    <a:pt x="0" y="8496681"/>
                  </a:cubicBezTo>
                  <a:close/>
                </a:path>
              </a:pathLst>
            </a:custGeom>
            <a:solidFill>
              <a:srgbClr val="FFFFFF"/>
            </a:solidFill>
          </p:spPr>
          <p:txBody>
            <a:bodyPr/>
            <a:lstStyle/>
            <a:p>
              <a:endParaRPr lang="en-IN"/>
            </a:p>
          </p:txBody>
        </p:sp>
        <p:sp>
          <p:nvSpPr>
            <p:cNvPr id="17" name="Freeform 17"/>
            <p:cNvSpPr/>
            <p:nvPr/>
          </p:nvSpPr>
          <p:spPr>
            <a:xfrm>
              <a:off x="0" y="0"/>
              <a:ext cx="7069836" cy="8583041"/>
            </a:xfrm>
            <a:custGeom>
              <a:avLst/>
              <a:gdLst/>
              <a:ahLst/>
              <a:cxnLst/>
              <a:rect l="l" t="t" r="r" b="b"/>
              <a:pathLst>
                <a:path w="7069836" h="8583041">
                  <a:moveTo>
                    <a:pt x="0" y="67310"/>
                  </a:moveTo>
                  <a:cubicBezTo>
                    <a:pt x="0" y="30099"/>
                    <a:pt x="30099" y="0"/>
                    <a:pt x="67183" y="0"/>
                  </a:cubicBezTo>
                  <a:lnTo>
                    <a:pt x="7002652" y="0"/>
                  </a:lnTo>
                  <a:lnTo>
                    <a:pt x="7002652" y="19050"/>
                  </a:lnTo>
                  <a:lnTo>
                    <a:pt x="7002652" y="0"/>
                  </a:lnTo>
                  <a:cubicBezTo>
                    <a:pt x="7039737" y="0"/>
                    <a:pt x="7069836" y="30099"/>
                    <a:pt x="7069836" y="67310"/>
                  </a:cubicBezTo>
                  <a:lnTo>
                    <a:pt x="7050786" y="67310"/>
                  </a:lnTo>
                  <a:lnTo>
                    <a:pt x="7069836" y="67310"/>
                  </a:lnTo>
                  <a:lnTo>
                    <a:pt x="7069836" y="8515731"/>
                  </a:lnTo>
                  <a:lnTo>
                    <a:pt x="7050786" y="8515731"/>
                  </a:lnTo>
                  <a:lnTo>
                    <a:pt x="7069836" y="8515731"/>
                  </a:lnTo>
                  <a:cubicBezTo>
                    <a:pt x="7069836" y="8552815"/>
                    <a:pt x="7039737" y="8583041"/>
                    <a:pt x="7002652" y="8583041"/>
                  </a:cubicBezTo>
                  <a:lnTo>
                    <a:pt x="7002652" y="8563991"/>
                  </a:lnTo>
                  <a:lnTo>
                    <a:pt x="7002652" y="8583041"/>
                  </a:lnTo>
                  <a:lnTo>
                    <a:pt x="67183" y="8583041"/>
                  </a:lnTo>
                  <a:lnTo>
                    <a:pt x="67183" y="8563991"/>
                  </a:lnTo>
                  <a:lnTo>
                    <a:pt x="67183" y="8583041"/>
                  </a:lnTo>
                  <a:cubicBezTo>
                    <a:pt x="30099" y="8583041"/>
                    <a:pt x="0" y="8552942"/>
                    <a:pt x="0" y="8515731"/>
                  </a:cubicBezTo>
                  <a:lnTo>
                    <a:pt x="0" y="67310"/>
                  </a:lnTo>
                  <a:lnTo>
                    <a:pt x="19050" y="67310"/>
                  </a:lnTo>
                  <a:lnTo>
                    <a:pt x="0" y="67310"/>
                  </a:lnTo>
                  <a:moveTo>
                    <a:pt x="38100" y="67310"/>
                  </a:moveTo>
                  <a:lnTo>
                    <a:pt x="38100" y="8515731"/>
                  </a:lnTo>
                  <a:lnTo>
                    <a:pt x="19050" y="8515731"/>
                  </a:lnTo>
                  <a:lnTo>
                    <a:pt x="38100" y="8515731"/>
                  </a:lnTo>
                  <a:cubicBezTo>
                    <a:pt x="38100" y="8531861"/>
                    <a:pt x="51181" y="8544941"/>
                    <a:pt x="67183" y="8544941"/>
                  </a:cubicBezTo>
                  <a:lnTo>
                    <a:pt x="7002652" y="8544941"/>
                  </a:lnTo>
                  <a:cubicBezTo>
                    <a:pt x="7018655" y="8544941"/>
                    <a:pt x="7031736" y="8531861"/>
                    <a:pt x="7031736" y="8515731"/>
                  </a:cubicBezTo>
                  <a:lnTo>
                    <a:pt x="7031736" y="67310"/>
                  </a:lnTo>
                  <a:cubicBezTo>
                    <a:pt x="7031736" y="51181"/>
                    <a:pt x="7018655" y="38100"/>
                    <a:pt x="7002652" y="38100"/>
                  </a:cubicBezTo>
                  <a:lnTo>
                    <a:pt x="67183" y="38100"/>
                  </a:lnTo>
                  <a:lnTo>
                    <a:pt x="67183" y="19050"/>
                  </a:lnTo>
                  <a:lnTo>
                    <a:pt x="67183" y="38100"/>
                  </a:lnTo>
                  <a:cubicBezTo>
                    <a:pt x="51181" y="38100"/>
                    <a:pt x="38100" y="51181"/>
                    <a:pt x="38100" y="67310"/>
                  </a:cubicBezTo>
                  <a:close/>
                </a:path>
              </a:pathLst>
            </a:custGeom>
            <a:solidFill>
              <a:srgbClr val="D8D4D4"/>
            </a:solidFill>
          </p:spPr>
          <p:txBody>
            <a:bodyPr/>
            <a:lstStyle/>
            <a:p>
              <a:endParaRPr lang="en-IN"/>
            </a:p>
          </p:txBody>
        </p:sp>
      </p:grpSp>
      <p:grpSp>
        <p:nvGrpSpPr>
          <p:cNvPr id="18" name="Group 18"/>
          <p:cNvGrpSpPr/>
          <p:nvPr/>
        </p:nvGrpSpPr>
        <p:grpSpPr>
          <a:xfrm>
            <a:off x="6535639" y="2585145"/>
            <a:ext cx="5216724" cy="723007"/>
            <a:chOff x="0" y="0"/>
            <a:chExt cx="6955632" cy="964010"/>
          </a:xfrm>
        </p:grpSpPr>
        <p:sp>
          <p:nvSpPr>
            <p:cNvPr id="19" name="Freeform 19"/>
            <p:cNvSpPr/>
            <p:nvPr/>
          </p:nvSpPr>
          <p:spPr>
            <a:xfrm>
              <a:off x="0" y="0"/>
              <a:ext cx="6955790" cy="964057"/>
            </a:xfrm>
            <a:custGeom>
              <a:avLst/>
              <a:gdLst/>
              <a:ahLst/>
              <a:cxnLst/>
              <a:rect l="l" t="t" r="r" b="b"/>
              <a:pathLst>
                <a:path w="6955790" h="964057">
                  <a:moveTo>
                    <a:pt x="0" y="2540"/>
                  </a:moveTo>
                  <a:cubicBezTo>
                    <a:pt x="0" y="1143"/>
                    <a:pt x="1143" y="0"/>
                    <a:pt x="2540" y="0"/>
                  </a:cubicBezTo>
                  <a:lnTo>
                    <a:pt x="6953250" y="0"/>
                  </a:lnTo>
                  <a:cubicBezTo>
                    <a:pt x="6954647" y="0"/>
                    <a:pt x="6955790" y="1143"/>
                    <a:pt x="6955790" y="2540"/>
                  </a:cubicBezTo>
                  <a:lnTo>
                    <a:pt x="6955790" y="961517"/>
                  </a:lnTo>
                  <a:cubicBezTo>
                    <a:pt x="6955790" y="962914"/>
                    <a:pt x="6954647" y="964057"/>
                    <a:pt x="6953250" y="964057"/>
                  </a:cubicBezTo>
                  <a:lnTo>
                    <a:pt x="2540" y="964057"/>
                  </a:lnTo>
                  <a:cubicBezTo>
                    <a:pt x="1143" y="964057"/>
                    <a:pt x="0" y="962914"/>
                    <a:pt x="0" y="961517"/>
                  </a:cubicBezTo>
                  <a:close/>
                </a:path>
              </a:pathLst>
            </a:custGeom>
            <a:solidFill>
              <a:srgbClr val="F2EEEE"/>
            </a:solidFill>
          </p:spPr>
          <p:txBody>
            <a:bodyPr/>
            <a:lstStyle/>
            <a:p>
              <a:endParaRPr lang="en-IN"/>
            </a:p>
          </p:txBody>
        </p:sp>
      </p:grpSp>
      <p:sp>
        <p:nvSpPr>
          <p:cNvPr id="20" name="Freeform 20" descr="preencoded.png"/>
          <p:cNvSpPr/>
          <p:nvPr/>
        </p:nvSpPr>
        <p:spPr>
          <a:xfrm>
            <a:off x="8963174" y="2765821"/>
            <a:ext cx="361504" cy="361504"/>
          </a:xfrm>
          <a:custGeom>
            <a:avLst/>
            <a:gdLst/>
            <a:ahLst/>
            <a:cxnLst/>
            <a:rect l="l" t="t" r="r" b="b"/>
            <a:pathLst>
              <a:path w="361504" h="361504">
                <a:moveTo>
                  <a:pt x="0" y="0"/>
                </a:moveTo>
                <a:lnTo>
                  <a:pt x="361504" y="0"/>
                </a:lnTo>
                <a:lnTo>
                  <a:pt x="361504" y="361504"/>
                </a:lnTo>
                <a:lnTo>
                  <a:pt x="0" y="361504"/>
                </a:lnTo>
                <a:lnTo>
                  <a:pt x="0" y="0"/>
                </a:lnTo>
                <a:close/>
              </a:path>
            </a:pathLst>
          </a:custGeom>
          <a:blipFill>
            <a:blip r:embed="rId5">
              <a:extLst>
                <a:ext uri="{96DAC541-7B7A-43D3-8B79-37D633B846F1}">
                  <asvg:svgBlip xmlns:asvg="http://schemas.microsoft.com/office/drawing/2016/SVG/main" r:embed="rId6"/>
                </a:ext>
              </a:extLst>
            </a:blip>
            <a:stretch>
              <a:fillRect t="-2631" b="-2631"/>
            </a:stretch>
          </a:blipFill>
        </p:spPr>
        <p:txBody>
          <a:bodyPr/>
          <a:lstStyle/>
          <a:p>
            <a:endParaRPr lang="en-IN"/>
          </a:p>
        </p:txBody>
      </p:sp>
      <p:sp>
        <p:nvSpPr>
          <p:cNvPr id="21" name="TextBox 21"/>
          <p:cNvSpPr txBox="1"/>
          <p:nvPr/>
        </p:nvSpPr>
        <p:spPr>
          <a:xfrm>
            <a:off x="6776591" y="3530054"/>
            <a:ext cx="3534965"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Beyond Follower Metrics</a:t>
            </a:r>
          </a:p>
        </p:txBody>
      </p:sp>
      <p:sp>
        <p:nvSpPr>
          <p:cNvPr id="22" name="TextBox 22"/>
          <p:cNvSpPr txBox="1"/>
          <p:nvPr/>
        </p:nvSpPr>
        <p:spPr>
          <a:xfrm>
            <a:off x="6776591" y="3993951"/>
            <a:ext cx="4734818" cy="470177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Contrary to popular belief, our data indicates that the </a:t>
            </a:r>
            <a:r>
              <a:rPr lang="en-US" sz="1874" b="1">
                <a:solidFill>
                  <a:srgbClr val="464646"/>
                </a:solidFill>
                <a:latin typeface="Inter Bold"/>
                <a:ea typeface="Inter Bold"/>
                <a:cs typeface="Inter Bold"/>
                <a:sym typeface="Inter Bold"/>
              </a:rPr>
              <a:t>Engagement Rate is not strongly correlated with Follower Count</a:t>
            </a:r>
            <a:r>
              <a:rPr lang="en-US" sz="1874" b="1">
                <a:solidFill>
                  <a:srgbClr val="464646"/>
                </a:solidFill>
                <a:latin typeface="Inter Medium"/>
                <a:ea typeface="Inter Medium"/>
                <a:cs typeface="Inter Medium"/>
                <a:sym typeface="Inter Medium"/>
              </a:rPr>
              <a:t>. Profiles with 10,000 followers often achieve higher engagement percentages than those with 100,000. This emphasizes focusing on authentic connection over vanity metrics for influencer partnerships and content creation, targeting communities that are genuinely receptive and interactive on Instagram.</a:t>
            </a:r>
          </a:p>
        </p:txBody>
      </p:sp>
      <p:grpSp>
        <p:nvGrpSpPr>
          <p:cNvPr id="23" name="Group 23"/>
          <p:cNvGrpSpPr/>
          <p:nvPr/>
        </p:nvGrpSpPr>
        <p:grpSpPr>
          <a:xfrm>
            <a:off x="12007602" y="2542282"/>
            <a:ext cx="5302449" cy="6437262"/>
            <a:chOff x="0" y="0"/>
            <a:chExt cx="7069932" cy="8583017"/>
          </a:xfrm>
        </p:grpSpPr>
        <p:sp>
          <p:nvSpPr>
            <p:cNvPr id="24" name="Freeform 24"/>
            <p:cNvSpPr/>
            <p:nvPr/>
          </p:nvSpPr>
          <p:spPr>
            <a:xfrm>
              <a:off x="19050" y="19050"/>
              <a:ext cx="7031736" cy="8544941"/>
            </a:xfrm>
            <a:custGeom>
              <a:avLst/>
              <a:gdLst/>
              <a:ahLst/>
              <a:cxnLst/>
              <a:rect l="l" t="t" r="r" b="b"/>
              <a:pathLst>
                <a:path w="7031736" h="8544941">
                  <a:moveTo>
                    <a:pt x="0" y="48260"/>
                  </a:moveTo>
                  <a:cubicBezTo>
                    <a:pt x="0" y="21590"/>
                    <a:pt x="21590" y="0"/>
                    <a:pt x="48133" y="0"/>
                  </a:cubicBezTo>
                  <a:lnTo>
                    <a:pt x="6983602" y="0"/>
                  </a:lnTo>
                  <a:cubicBezTo>
                    <a:pt x="7010146" y="0"/>
                    <a:pt x="7031736" y="21590"/>
                    <a:pt x="7031736" y="48260"/>
                  </a:cubicBezTo>
                  <a:lnTo>
                    <a:pt x="7031736" y="8496681"/>
                  </a:lnTo>
                  <a:cubicBezTo>
                    <a:pt x="7031736" y="8523351"/>
                    <a:pt x="7010146" y="8544941"/>
                    <a:pt x="6983602" y="8544941"/>
                  </a:cubicBezTo>
                  <a:lnTo>
                    <a:pt x="48133" y="8544941"/>
                  </a:lnTo>
                  <a:cubicBezTo>
                    <a:pt x="21590" y="8544941"/>
                    <a:pt x="0" y="8523351"/>
                    <a:pt x="0" y="8496681"/>
                  </a:cubicBezTo>
                  <a:close/>
                </a:path>
              </a:pathLst>
            </a:custGeom>
            <a:solidFill>
              <a:srgbClr val="FFFFFF"/>
            </a:solidFill>
          </p:spPr>
          <p:txBody>
            <a:bodyPr/>
            <a:lstStyle/>
            <a:p>
              <a:endParaRPr lang="en-IN"/>
            </a:p>
          </p:txBody>
        </p:sp>
        <p:sp>
          <p:nvSpPr>
            <p:cNvPr id="25" name="Freeform 25"/>
            <p:cNvSpPr/>
            <p:nvPr/>
          </p:nvSpPr>
          <p:spPr>
            <a:xfrm>
              <a:off x="0" y="0"/>
              <a:ext cx="7069836" cy="8583041"/>
            </a:xfrm>
            <a:custGeom>
              <a:avLst/>
              <a:gdLst/>
              <a:ahLst/>
              <a:cxnLst/>
              <a:rect l="l" t="t" r="r" b="b"/>
              <a:pathLst>
                <a:path w="7069836" h="8583041">
                  <a:moveTo>
                    <a:pt x="0" y="67310"/>
                  </a:moveTo>
                  <a:cubicBezTo>
                    <a:pt x="0" y="30099"/>
                    <a:pt x="30099" y="0"/>
                    <a:pt x="67183" y="0"/>
                  </a:cubicBezTo>
                  <a:lnTo>
                    <a:pt x="7002652" y="0"/>
                  </a:lnTo>
                  <a:lnTo>
                    <a:pt x="7002652" y="19050"/>
                  </a:lnTo>
                  <a:lnTo>
                    <a:pt x="7002652" y="0"/>
                  </a:lnTo>
                  <a:cubicBezTo>
                    <a:pt x="7039737" y="0"/>
                    <a:pt x="7069836" y="30099"/>
                    <a:pt x="7069836" y="67310"/>
                  </a:cubicBezTo>
                  <a:lnTo>
                    <a:pt x="7050786" y="67310"/>
                  </a:lnTo>
                  <a:lnTo>
                    <a:pt x="7069836" y="67310"/>
                  </a:lnTo>
                  <a:lnTo>
                    <a:pt x="7069836" y="8515731"/>
                  </a:lnTo>
                  <a:lnTo>
                    <a:pt x="7050786" y="8515731"/>
                  </a:lnTo>
                  <a:lnTo>
                    <a:pt x="7069836" y="8515731"/>
                  </a:lnTo>
                  <a:cubicBezTo>
                    <a:pt x="7069836" y="8552815"/>
                    <a:pt x="7039737" y="8583041"/>
                    <a:pt x="7002652" y="8583041"/>
                  </a:cubicBezTo>
                  <a:lnTo>
                    <a:pt x="7002652" y="8563991"/>
                  </a:lnTo>
                  <a:lnTo>
                    <a:pt x="7002652" y="8583041"/>
                  </a:lnTo>
                  <a:lnTo>
                    <a:pt x="67183" y="8583041"/>
                  </a:lnTo>
                  <a:lnTo>
                    <a:pt x="67183" y="8563991"/>
                  </a:lnTo>
                  <a:lnTo>
                    <a:pt x="67183" y="8583041"/>
                  </a:lnTo>
                  <a:cubicBezTo>
                    <a:pt x="30099" y="8583041"/>
                    <a:pt x="0" y="8552942"/>
                    <a:pt x="0" y="8515731"/>
                  </a:cubicBezTo>
                  <a:lnTo>
                    <a:pt x="0" y="67310"/>
                  </a:lnTo>
                  <a:lnTo>
                    <a:pt x="19050" y="67310"/>
                  </a:lnTo>
                  <a:lnTo>
                    <a:pt x="0" y="67310"/>
                  </a:lnTo>
                  <a:moveTo>
                    <a:pt x="38100" y="67310"/>
                  </a:moveTo>
                  <a:lnTo>
                    <a:pt x="38100" y="8515731"/>
                  </a:lnTo>
                  <a:lnTo>
                    <a:pt x="19050" y="8515731"/>
                  </a:lnTo>
                  <a:lnTo>
                    <a:pt x="38100" y="8515731"/>
                  </a:lnTo>
                  <a:cubicBezTo>
                    <a:pt x="38100" y="8531861"/>
                    <a:pt x="51181" y="8544941"/>
                    <a:pt x="67183" y="8544941"/>
                  </a:cubicBezTo>
                  <a:lnTo>
                    <a:pt x="7002652" y="8544941"/>
                  </a:lnTo>
                  <a:cubicBezTo>
                    <a:pt x="7018655" y="8544941"/>
                    <a:pt x="7031736" y="8531861"/>
                    <a:pt x="7031736" y="8515731"/>
                  </a:cubicBezTo>
                  <a:lnTo>
                    <a:pt x="7031736" y="67310"/>
                  </a:lnTo>
                  <a:cubicBezTo>
                    <a:pt x="7031736" y="51181"/>
                    <a:pt x="7018655" y="38100"/>
                    <a:pt x="7002652" y="38100"/>
                  </a:cubicBezTo>
                  <a:lnTo>
                    <a:pt x="67183" y="38100"/>
                  </a:lnTo>
                  <a:lnTo>
                    <a:pt x="67183" y="19050"/>
                  </a:lnTo>
                  <a:lnTo>
                    <a:pt x="67183" y="38100"/>
                  </a:lnTo>
                  <a:cubicBezTo>
                    <a:pt x="51181" y="38100"/>
                    <a:pt x="38100" y="51181"/>
                    <a:pt x="38100" y="67310"/>
                  </a:cubicBezTo>
                  <a:close/>
                </a:path>
              </a:pathLst>
            </a:custGeom>
            <a:solidFill>
              <a:srgbClr val="D8D4D4"/>
            </a:solidFill>
          </p:spPr>
          <p:txBody>
            <a:bodyPr/>
            <a:lstStyle/>
            <a:p>
              <a:endParaRPr lang="en-IN"/>
            </a:p>
          </p:txBody>
        </p:sp>
      </p:grpSp>
      <p:grpSp>
        <p:nvGrpSpPr>
          <p:cNvPr id="26" name="Group 26"/>
          <p:cNvGrpSpPr/>
          <p:nvPr/>
        </p:nvGrpSpPr>
        <p:grpSpPr>
          <a:xfrm>
            <a:off x="12050465" y="2585145"/>
            <a:ext cx="5216724" cy="723007"/>
            <a:chOff x="0" y="0"/>
            <a:chExt cx="6955632" cy="964010"/>
          </a:xfrm>
        </p:grpSpPr>
        <p:sp>
          <p:nvSpPr>
            <p:cNvPr id="27" name="Freeform 27"/>
            <p:cNvSpPr/>
            <p:nvPr/>
          </p:nvSpPr>
          <p:spPr>
            <a:xfrm>
              <a:off x="0" y="0"/>
              <a:ext cx="6955790" cy="964057"/>
            </a:xfrm>
            <a:custGeom>
              <a:avLst/>
              <a:gdLst/>
              <a:ahLst/>
              <a:cxnLst/>
              <a:rect l="l" t="t" r="r" b="b"/>
              <a:pathLst>
                <a:path w="6955790" h="964057">
                  <a:moveTo>
                    <a:pt x="0" y="2540"/>
                  </a:moveTo>
                  <a:cubicBezTo>
                    <a:pt x="0" y="1143"/>
                    <a:pt x="1143" y="0"/>
                    <a:pt x="2540" y="0"/>
                  </a:cubicBezTo>
                  <a:lnTo>
                    <a:pt x="6953250" y="0"/>
                  </a:lnTo>
                  <a:cubicBezTo>
                    <a:pt x="6954647" y="0"/>
                    <a:pt x="6955790" y="1143"/>
                    <a:pt x="6955790" y="2540"/>
                  </a:cubicBezTo>
                  <a:lnTo>
                    <a:pt x="6955790" y="961517"/>
                  </a:lnTo>
                  <a:cubicBezTo>
                    <a:pt x="6955790" y="962914"/>
                    <a:pt x="6954647" y="964057"/>
                    <a:pt x="6953250" y="964057"/>
                  </a:cubicBezTo>
                  <a:lnTo>
                    <a:pt x="2540" y="964057"/>
                  </a:lnTo>
                  <a:cubicBezTo>
                    <a:pt x="1143" y="964057"/>
                    <a:pt x="0" y="962914"/>
                    <a:pt x="0" y="961517"/>
                  </a:cubicBezTo>
                  <a:close/>
                </a:path>
              </a:pathLst>
            </a:custGeom>
            <a:solidFill>
              <a:srgbClr val="F2EEEE"/>
            </a:solidFill>
          </p:spPr>
          <p:txBody>
            <a:bodyPr/>
            <a:lstStyle/>
            <a:p>
              <a:endParaRPr lang="en-IN"/>
            </a:p>
          </p:txBody>
        </p:sp>
      </p:grpSp>
      <p:sp>
        <p:nvSpPr>
          <p:cNvPr id="28" name="Freeform 28" descr="preencoded.png"/>
          <p:cNvSpPr/>
          <p:nvPr/>
        </p:nvSpPr>
        <p:spPr>
          <a:xfrm>
            <a:off x="14478000" y="2765821"/>
            <a:ext cx="361504" cy="361504"/>
          </a:xfrm>
          <a:custGeom>
            <a:avLst/>
            <a:gdLst/>
            <a:ahLst/>
            <a:cxnLst/>
            <a:rect l="l" t="t" r="r" b="b"/>
            <a:pathLst>
              <a:path w="361504" h="361504">
                <a:moveTo>
                  <a:pt x="0" y="0"/>
                </a:moveTo>
                <a:lnTo>
                  <a:pt x="361504" y="0"/>
                </a:lnTo>
                <a:lnTo>
                  <a:pt x="361504" y="361504"/>
                </a:lnTo>
                <a:lnTo>
                  <a:pt x="0" y="361504"/>
                </a:lnTo>
                <a:lnTo>
                  <a:pt x="0" y="0"/>
                </a:lnTo>
                <a:close/>
              </a:path>
            </a:pathLst>
          </a:custGeom>
          <a:blipFill>
            <a:blip r:embed="rId7">
              <a:extLst>
                <a:ext uri="{96DAC541-7B7A-43D3-8B79-37D633B846F1}">
                  <asvg:svgBlip xmlns:asvg="http://schemas.microsoft.com/office/drawing/2016/SVG/main" r:embed="rId8"/>
                </a:ext>
              </a:extLst>
            </a:blip>
            <a:stretch>
              <a:fillRect t="-17105" b="-17105"/>
            </a:stretch>
          </a:blipFill>
        </p:spPr>
        <p:txBody>
          <a:bodyPr/>
          <a:lstStyle/>
          <a:p>
            <a:endParaRPr lang="en-IN"/>
          </a:p>
        </p:txBody>
      </p:sp>
      <p:sp>
        <p:nvSpPr>
          <p:cNvPr id="29" name="TextBox 29"/>
          <p:cNvSpPr txBox="1"/>
          <p:nvPr/>
        </p:nvSpPr>
        <p:spPr>
          <a:xfrm>
            <a:off x="12291417" y="3530054"/>
            <a:ext cx="3672929"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Tailored Content Delivery</a:t>
            </a:r>
          </a:p>
        </p:txBody>
      </p:sp>
      <p:sp>
        <p:nvSpPr>
          <p:cNvPr id="30" name="TextBox 30"/>
          <p:cNvSpPr txBox="1"/>
          <p:nvPr/>
        </p:nvSpPr>
        <p:spPr>
          <a:xfrm>
            <a:off x="12291417" y="3993951"/>
            <a:ext cx="4734818" cy="470177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We've observed distinct patterns in </a:t>
            </a:r>
            <a:r>
              <a:rPr lang="en-US" sz="1874" b="1">
                <a:solidFill>
                  <a:srgbClr val="464646"/>
                </a:solidFill>
                <a:latin typeface="Inter Bold"/>
                <a:ea typeface="Inter Bold"/>
                <a:cs typeface="Inter Bold"/>
                <a:sym typeface="Inter Bold"/>
              </a:rPr>
              <a:t>device and post type preferences varying by gender</a:t>
            </a:r>
            <a:r>
              <a:rPr lang="en-US" sz="1874" b="1">
                <a:solidFill>
                  <a:srgbClr val="464646"/>
                </a:solidFill>
                <a:latin typeface="Inter Medium"/>
                <a:ea typeface="Inter Medium"/>
                <a:cs typeface="Inter Medium"/>
                <a:sym typeface="Inter Medium"/>
              </a:rPr>
              <a:t>. For instance, female users show a higher preference for interactive video stories on mobile devices, while male users engage more with static image posts on desktop. This intelligence allows us to fine-tune our content formats and distribution channels for optimal engagement across different demographic segments on Instagram.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5F5F5"/>
            </a:solidFill>
          </p:spPr>
          <p:txBody>
            <a:bodyPr/>
            <a:lstStyle/>
            <a:p>
              <a:endParaRPr lang="en-IN"/>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a:p>
          </p:txBody>
        </p:sp>
      </p:grpSp>
      <p:sp>
        <p:nvSpPr>
          <p:cNvPr id="6" name="TextBox 6"/>
          <p:cNvSpPr txBox="1"/>
          <p:nvPr/>
        </p:nvSpPr>
        <p:spPr>
          <a:xfrm>
            <a:off x="992238" y="1210716"/>
            <a:ext cx="13863191" cy="772120"/>
          </a:xfrm>
          <a:prstGeom prst="rect">
            <a:avLst/>
          </a:prstGeom>
        </p:spPr>
        <p:txBody>
          <a:bodyPr lIns="0" tIns="0" rIns="0" bIns="0" rtlCol="0" anchor="t">
            <a:spAutoFit/>
          </a:bodyPr>
          <a:lstStyle/>
          <a:p>
            <a:pPr algn="l">
              <a:lnSpc>
                <a:spcPts val="5874"/>
              </a:lnSpc>
            </a:pPr>
            <a:r>
              <a:rPr lang="en-US" sz="4687" b="1">
                <a:solidFill>
                  <a:srgbClr val="030303"/>
                </a:solidFill>
                <a:latin typeface="DM Sans Bold"/>
                <a:ea typeface="DM Sans Bold"/>
                <a:cs typeface="DM Sans Bold"/>
                <a:sym typeface="DM Sans Bold"/>
              </a:rPr>
              <a:t>Actionable Conclusions &amp; Strategic Imperatives</a:t>
            </a:r>
          </a:p>
        </p:txBody>
      </p:sp>
      <p:grpSp>
        <p:nvGrpSpPr>
          <p:cNvPr id="7" name="Group 7"/>
          <p:cNvGrpSpPr/>
          <p:nvPr/>
        </p:nvGrpSpPr>
        <p:grpSpPr>
          <a:xfrm>
            <a:off x="977950" y="2450455"/>
            <a:ext cx="8059788" cy="3016003"/>
            <a:chOff x="0" y="0"/>
            <a:chExt cx="10746383" cy="4021337"/>
          </a:xfrm>
        </p:grpSpPr>
        <p:sp>
          <p:nvSpPr>
            <p:cNvPr id="8" name="Freeform 8"/>
            <p:cNvSpPr/>
            <p:nvPr/>
          </p:nvSpPr>
          <p:spPr>
            <a:xfrm>
              <a:off x="19050" y="19050"/>
              <a:ext cx="10708259" cy="3983355"/>
            </a:xfrm>
            <a:custGeom>
              <a:avLst/>
              <a:gdLst/>
              <a:ahLst/>
              <a:cxnLst/>
              <a:rect l="l" t="t" r="r" b="b"/>
              <a:pathLst>
                <a:path w="10708259" h="3983355">
                  <a:moveTo>
                    <a:pt x="0" y="48260"/>
                  </a:moveTo>
                  <a:cubicBezTo>
                    <a:pt x="0" y="21590"/>
                    <a:pt x="21717" y="0"/>
                    <a:pt x="48514" y="0"/>
                  </a:cubicBezTo>
                  <a:lnTo>
                    <a:pt x="10659745" y="0"/>
                  </a:lnTo>
                  <a:cubicBezTo>
                    <a:pt x="10686542" y="0"/>
                    <a:pt x="10708259" y="21590"/>
                    <a:pt x="10708259" y="48260"/>
                  </a:cubicBezTo>
                  <a:lnTo>
                    <a:pt x="10708259" y="3935095"/>
                  </a:lnTo>
                  <a:cubicBezTo>
                    <a:pt x="10708259" y="3961765"/>
                    <a:pt x="10686542" y="3983355"/>
                    <a:pt x="10659745" y="3983355"/>
                  </a:cubicBezTo>
                  <a:lnTo>
                    <a:pt x="48514" y="3983355"/>
                  </a:lnTo>
                  <a:cubicBezTo>
                    <a:pt x="21717" y="3983355"/>
                    <a:pt x="0" y="3961765"/>
                    <a:pt x="0" y="3935095"/>
                  </a:cubicBezTo>
                  <a:close/>
                </a:path>
              </a:pathLst>
            </a:custGeom>
            <a:solidFill>
              <a:srgbClr val="FFFFFF"/>
            </a:solidFill>
          </p:spPr>
          <p:txBody>
            <a:bodyPr/>
            <a:lstStyle/>
            <a:p>
              <a:endParaRPr lang="en-IN"/>
            </a:p>
          </p:txBody>
        </p:sp>
        <p:sp>
          <p:nvSpPr>
            <p:cNvPr id="9" name="Freeform 9"/>
            <p:cNvSpPr/>
            <p:nvPr/>
          </p:nvSpPr>
          <p:spPr>
            <a:xfrm>
              <a:off x="0" y="0"/>
              <a:ext cx="10746359" cy="4021455"/>
            </a:xfrm>
            <a:custGeom>
              <a:avLst/>
              <a:gdLst/>
              <a:ahLst/>
              <a:cxnLst/>
              <a:rect l="l" t="t" r="r" b="b"/>
              <a:pathLst>
                <a:path w="10746359" h="4021455">
                  <a:moveTo>
                    <a:pt x="0" y="67310"/>
                  </a:moveTo>
                  <a:cubicBezTo>
                    <a:pt x="0" y="29972"/>
                    <a:pt x="30353" y="0"/>
                    <a:pt x="67564" y="0"/>
                  </a:cubicBezTo>
                  <a:lnTo>
                    <a:pt x="10678795" y="0"/>
                  </a:lnTo>
                  <a:lnTo>
                    <a:pt x="10678795" y="19050"/>
                  </a:lnTo>
                  <a:lnTo>
                    <a:pt x="10678795" y="0"/>
                  </a:lnTo>
                  <a:cubicBezTo>
                    <a:pt x="10716006" y="0"/>
                    <a:pt x="10746359" y="29972"/>
                    <a:pt x="10746359" y="67310"/>
                  </a:cubicBezTo>
                  <a:lnTo>
                    <a:pt x="10727309" y="67310"/>
                  </a:lnTo>
                  <a:lnTo>
                    <a:pt x="10746359" y="67310"/>
                  </a:lnTo>
                  <a:lnTo>
                    <a:pt x="10746359" y="3954145"/>
                  </a:lnTo>
                  <a:lnTo>
                    <a:pt x="10727309" y="3954145"/>
                  </a:lnTo>
                  <a:lnTo>
                    <a:pt x="10746359" y="3954145"/>
                  </a:lnTo>
                  <a:cubicBezTo>
                    <a:pt x="10746359" y="3991356"/>
                    <a:pt x="10716006" y="4021455"/>
                    <a:pt x="10678795" y="4021455"/>
                  </a:cubicBezTo>
                  <a:lnTo>
                    <a:pt x="10678795" y="4002405"/>
                  </a:lnTo>
                  <a:lnTo>
                    <a:pt x="10678795" y="4021455"/>
                  </a:lnTo>
                  <a:lnTo>
                    <a:pt x="67564" y="4021455"/>
                  </a:lnTo>
                  <a:lnTo>
                    <a:pt x="67564" y="4002405"/>
                  </a:lnTo>
                  <a:lnTo>
                    <a:pt x="67564" y="4021455"/>
                  </a:lnTo>
                  <a:cubicBezTo>
                    <a:pt x="30353" y="4021455"/>
                    <a:pt x="0" y="3991483"/>
                    <a:pt x="0" y="3954145"/>
                  </a:cubicBezTo>
                  <a:lnTo>
                    <a:pt x="0" y="67310"/>
                  </a:lnTo>
                  <a:lnTo>
                    <a:pt x="19050" y="67310"/>
                  </a:lnTo>
                  <a:lnTo>
                    <a:pt x="0" y="67310"/>
                  </a:lnTo>
                  <a:moveTo>
                    <a:pt x="38100" y="67310"/>
                  </a:moveTo>
                  <a:lnTo>
                    <a:pt x="38100" y="3954145"/>
                  </a:lnTo>
                  <a:lnTo>
                    <a:pt x="19050" y="3954145"/>
                  </a:lnTo>
                  <a:lnTo>
                    <a:pt x="38100" y="3954145"/>
                  </a:lnTo>
                  <a:cubicBezTo>
                    <a:pt x="38100" y="3970147"/>
                    <a:pt x="51181" y="3983355"/>
                    <a:pt x="67564" y="3983355"/>
                  </a:cubicBezTo>
                  <a:lnTo>
                    <a:pt x="10678795" y="3983355"/>
                  </a:lnTo>
                  <a:cubicBezTo>
                    <a:pt x="10695177" y="3983355"/>
                    <a:pt x="10708259" y="3970147"/>
                    <a:pt x="10708259" y="3954145"/>
                  </a:cubicBezTo>
                  <a:lnTo>
                    <a:pt x="10708259" y="67310"/>
                  </a:lnTo>
                  <a:cubicBezTo>
                    <a:pt x="10708259" y="51308"/>
                    <a:pt x="10695177" y="38100"/>
                    <a:pt x="10678795" y="38100"/>
                  </a:cubicBezTo>
                  <a:lnTo>
                    <a:pt x="67564" y="38100"/>
                  </a:lnTo>
                  <a:lnTo>
                    <a:pt x="67564" y="19050"/>
                  </a:lnTo>
                  <a:lnTo>
                    <a:pt x="67564" y="38100"/>
                  </a:lnTo>
                  <a:cubicBezTo>
                    <a:pt x="51181" y="38100"/>
                    <a:pt x="38100" y="51308"/>
                    <a:pt x="38100" y="67310"/>
                  </a:cubicBezTo>
                  <a:close/>
                </a:path>
              </a:pathLst>
            </a:custGeom>
            <a:solidFill>
              <a:srgbClr val="D8D4D4"/>
            </a:solidFill>
          </p:spPr>
          <p:txBody>
            <a:bodyPr/>
            <a:lstStyle/>
            <a:p>
              <a:endParaRPr lang="en-IN"/>
            </a:p>
          </p:txBody>
        </p:sp>
      </p:grpSp>
      <p:sp>
        <p:nvSpPr>
          <p:cNvPr id="10" name="TextBox 10"/>
          <p:cNvSpPr txBox="1"/>
          <p:nvPr/>
        </p:nvSpPr>
        <p:spPr>
          <a:xfrm>
            <a:off x="1261765" y="2715220"/>
            <a:ext cx="6233517"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Refine Geo-Targeting &amp; Localization Efforts</a:t>
            </a:r>
          </a:p>
        </p:txBody>
      </p:sp>
      <p:sp>
        <p:nvSpPr>
          <p:cNvPr id="11" name="TextBox 11"/>
          <p:cNvSpPr txBox="1"/>
          <p:nvPr/>
        </p:nvSpPr>
        <p:spPr>
          <a:xfrm>
            <a:off x="1261765" y="3179117"/>
            <a:ext cx="7492156" cy="1618059"/>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Leverage the significant concentration of users in key global cities (Tokyo, Delhi, Mumbai, Paris) by focusing ad campaigns and localizing content. This will maximize impact on dense user clusters and foster stronger community ties.</a:t>
            </a:r>
          </a:p>
        </p:txBody>
      </p:sp>
      <p:grpSp>
        <p:nvGrpSpPr>
          <p:cNvPr id="12" name="Group 12"/>
          <p:cNvGrpSpPr/>
          <p:nvPr/>
        </p:nvGrpSpPr>
        <p:grpSpPr>
          <a:xfrm>
            <a:off x="9250115" y="2450455"/>
            <a:ext cx="8059936" cy="3016003"/>
            <a:chOff x="0" y="0"/>
            <a:chExt cx="10746582" cy="4021337"/>
          </a:xfrm>
        </p:grpSpPr>
        <p:sp>
          <p:nvSpPr>
            <p:cNvPr id="13" name="Freeform 13"/>
            <p:cNvSpPr/>
            <p:nvPr/>
          </p:nvSpPr>
          <p:spPr>
            <a:xfrm>
              <a:off x="19050" y="19050"/>
              <a:ext cx="10708513" cy="3983355"/>
            </a:xfrm>
            <a:custGeom>
              <a:avLst/>
              <a:gdLst/>
              <a:ahLst/>
              <a:cxnLst/>
              <a:rect l="l" t="t" r="r" b="b"/>
              <a:pathLst>
                <a:path w="10708513" h="3983355">
                  <a:moveTo>
                    <a:pt x="0" y="48260"/>
                  </a:moveTo>
                  <a:cubicBezTo>
                    <a:pt x="0" y="21590"/>
                    <a:pt x="21717" y="0"/>
                    <a:pt x="48514" y="0"/>
                  </a:cubicBezTo>
                  <a:lnTo>
                    <a:pt x="10659999" y="0"/>
                  </a:lnTo>
                  <a:cubicBezTo>
                    <a:pt x="10686796" y="0"/>
                    <a:pt x="10708513" y="21590"/>
                    <a:pt x="10708513" y="48260"/>
                  </a:cubicBezTo>
                  <a:lnTo>
                    <a:pt x="10708513" y="3935095"/>
                  </a:lnTo>
                  <a:cubicBezTo>
                    <a:pt x="10708513" y="3961765"/>
                    <a:pt x="10686796" y="3983355"/>
                    <a:pt x="10659999" y="3983355"/>
                  </a:cubicBezTo>
                  <a:lnTo>
                    <a:pt x="48514" y="3983355"/>
                  </a:lnTo>
                  <a:cubicBezTo>
                    <a:pt x="21717" y="3983355"/>
                    <a:pt x="0" y="3961765"/>
                    <a:pt x="0" y="3935095"/>
                  </a:cubicBezTo>
                  <a:close/>
                </a:path>
              </a:pathLst>
            </a:custGeom>
            <a:solidFill>
              <a:srgbClr val="FFFFFF"/>
            </a:solidFill>
          </p:spPr>
          <p:txBody>
            <a:bodyPr/>
            <a:lstStyle/>
            <a:p>
              <a:endParaRPr lang="en-IN"/>
            </a:p>
          </p:txBody>
        </p:sp>
        <p:sp>
          <p:nvSpPr>
            <p:cNvPr id="14" name="Freeform 14"/>
            <p:cNvSpPr/>
            <p:nvPr/>
          </p:nvSpPr>
          <p:spPr>
            <a:xfrm>
              <a:off x="0" y="0"/>
              <a:ext cx="10746613" cy="4021455"/>
            </a:xfrm>
            <a:custGeom>
              <a:avLst/>
              <a:gdLst/>
              <a:ahLst/>
              <a:cxnLst/>
              <a:rect l="l" t="t" r="r" b="b"/>
              <a:pathLst>
                <a:path w="10746613" h="4021455">
                  <a:moveTo>
                    <a:pt x="0" y="67310"/>
                  </a:moveTo>
                  <a:cubicBezTo>
                    <a:pt x="0" y="29972"/>
                    <a:pt x="30353" y="0"/>
                    <a:pt x="67564" y="0"/>
                  </a:cubicBezTo>
                  <a:lnTo>
                    <a:pt x="10679049" y="0"/>
                  </a:lnTo>
                  <a:lnTo>
                    <a:pt x="10679049" y="19050"/>
                  </a:lnTo>
                  <a:lnTo>
                    <a:pt x="10679049" y="0"/>
                  </a:lnTo>
                  <a:cubicBezTo>
                    <a:pt x="10716260" y="0"/>
                    <a:pt x="10746613" y="29972"/>
                    <a:pt x="10746613" y="67310"/>
                  </a:cubicBezTo>
                  <a:lnTo>
                    <a:pt x="10727563" y="67310"/>
                  </a:lnTo>
                  <a:lnTo>
                    <a:pt x="10746613" y="67310"/>
                  </a:lnTo>
                  <a:lnTo>
                    <a:pt x="10746613" y="3954145"/>
                  </a:lnTo>
                  <a:lnTo>
                    <a:pt x="10727563" y="3954145"/>
                  </a:lnTo>
                  <a:lnTo>
                    <a:pt x="10746613" y="3954145"/>
                  </a:lnTo>
                  <a:cubicBezTo>
                    <a:pt x="10746613" y="3991356"/>
                    <a:pt x="10716260" y="4021455"/>
                    <a:pt x="10679049" y="4021455"/>
                  </a:cubicBezTo>
                  <a:lnTo>
                    <a:pt x="10679049" y="4002405"/>
                  </a:lnTo>
                  <a:lnTo>
                    <a:pt x="10679049" y="4021455"/>
                  </a:lnTo>
                  <a:lnTo>
                    <a:pt x="67564" y="4021455"/>
                  </a:lnTo>
                  <a:lnTo>
                    <a:pt x="67564" y="4002405"/>
                  </a:lnTo>
                  <a:lnTo>
                    <a:pt x="67564" y="4021455"/>
                  </a:lnTo>
                  <a:cubicBezTo>
                    <a:pt x="30353" y="4021455"/>
                    <a:pt x="0" y="3991483"/>
                    <a:pt x="0" y="3954145"/>
                  </a:cubicBezTo>
                  <a:lnTo>
                    <a:pt x="0" y="67310"/>
                  </a:lnTo>
                  <a:lnTo>
                    <a:pt x="19050" y="67310"/>
                  </a:lnTo>
                  <a:lnTo>
                    <a:pt x="0" y="67310"/>
                  </a:lnTo>
                  <a:moveTo>
                    <a:pt x="38100" y="67310"/>
                  </a:moveTo>
                  <a:lnTo>
                    <a:pt x="38100" y="3954145"/>
                  </a:lnTo>
                  <a:lnTo>
                    <a:pt x="19050" y="3954145"/>
                  </a:lnTo>
                  <a:lnTo>
                    <a:pt x="38100" y="3954145"/>
                  </a:lnTo>
                  <a:cubicBezTo>
                    <a:pt x="38100" y="3970147"/>
                    <a:pt x="51181" y="3983355"/>
                    <a:pt x="67564" y="3983355"/>
                  </a:cubicBezTo>
                  <a:lnTo>
                    <a:pt x="10679049" y="3983355"/>
                  </a:lnTo>
                  <a:cubicBezTo>
                    <a:pt x="10695432" y="3983355"/>
                    <a:pt x="10708513" y="3970147"/>
                    <a:pt x="10708513" y="3954145"/>
                  </a:cubicBezTo>
                  <a:lnTo>
                    <a:pt x="10708513" y="67310"/>
                  </a:lnTo>
                  <a:cubicBezTo>
                    <a:pt x="10708513" y="51308"/>
                    <a:pt x="10695432" y="38100"/>
                    <a:pt x="10679049" y="38100"/>
                  </a:cubicBezTo>
                  <a:lnTo>
                    <a:pt x="67564" y="38100"/>
                  </a:lnTo>
                  <a:lnTo>
                    <a:pt x="67564" y="19050"/>
                  </a:lnTo>
                  <a:lnTo>
                    <a:pt x="67564" y="38100"/>
                  </a:lnTo>
                  <a:cubicBezTo>
                    <a:pt x="51181" y="38100"/>
                    <a:pt x="38100" y="51308"/>
                    <a:pt x="38100" y="67310"/>
                  </a:cubicBezTo>
                  <a:close/>
                </a:path>
              </a:pathLst>
            </a:custGeom>
            <a:solidFill>
              <a:srgbClr val="D8D4D4"/>
            </a:solidFill>
          </p:spPr>
          <p:txBody>
            <a:bodyPr/>
            <a:lstStyle/>
            <a:p>
              <a:endParaRPr lang="en-IN"/>
            </a:p>
          </p:txBody>
        </p:sp>
      </p:grpSp>
      <p:sp>
        <p:nvSpPr>
          <p:cNvPr id="15" name="TextBox 15"/>
          <p:cNvSpPr txBox="1"/>
          <p:nvPr/>
        </p:nvSpPr>
        <p:spPr>
          <a:xfrm>
            <a:off x="9533930" y="2715220"/>
            <a:ext cx="7094339"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Prioritize Authentic Engagement for Partnerships</a:t>
            </a:r>
          </a:p>
        </p:txBody>
      </p:sp>
      <p:sp>
        <p:nvSpPr>
          <p:cNvPr id="16" name="TextBox 16"/>
          <p:cNvSpPr txBox="1"/>
          <p:nvPr/>
        </p:nvSpPr>
        <p:spPr>
          <a:xfrm>
            <a:off x="9533930" y="3179117"/>
            <a:ext cx="7492305" cy="2003524"/>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Shift influencer selection and content strategy to prioritize engagement rates over follower counts. This approach, informed by the low correlation between followers and engagement, will cultivate more genuine connections and interactive communities.</a:t>
            </a:r>
          </a:p>
        </p:txBody>
      </p:sp>
      <p:grpSp>
        <p:nvGrpSpPr>
          <p:cNvPr id="17" name="Group 17"/>
          <p:cNvGrpSpPr/>
          <p:nvPr/>
        </p:nvGrpSpPr>
        <p:grpSpPr>
          <a:xfrm>
            <a:off x="977950" y="5678835"/>
            <a:ext cx="8059788" cy="3392538"/>
            <a:chOff x="0" y="0"/>
            <a:chExt cx="10746383" cy="4523383"/>
          </a:xfrm>
        </p:grpSpPr>
        <p:sp>
          <p:nvSpPr>
            <p:cNvPr id="18" name="Freeform 18"/>
            <p:cNvSpPr/>
            <p:nvPr/>
          </p:nvSpPr>
          <p:spPr>
            <a:xfrm>
              <a:off x="19050" y="19050"/>
              <a:ext cx="10708386" cy="4485386"/>
            </a:xfrm>
            <a:custGeom>
              <a:avLst/>
              <a:gdLst/>
              <a:ahLst/>
              <a:cxnLst/>
              <a:rect l="l" t="t" r="r" b="b"/>
              <a:pathLst>
                <a:path w="10708386" h="4485386">
                  <a:moveTo>
                    <a:pt x="0" y="48260"/>
                  </a:moveTo>
                  <a:cubicBezTo>
                    <a:pt x="0" y="21590"/>
                    <a:pt x="21717" y="0"/>
                    <a:pt x="48514" y="0"/>
                  </a:cubicBezTo>
                  <a:lnTo>
                    <a:pt x="10659872" y="0"/>
                  </a:lnTo>
                  <a:cubicBezTo>
                    <a:pt x="10686669" y="0"/>
                    <a:pt x="10708386" y="21590"/>
                    <a:pt x="10708386" y="48260"/>
                  </a:cubicBezTo>
                  <a:lnTo>
                    <a:pt x="10708386" y="4437126"/>
                  </a:lnTo>
                  <a:cubicBezTo>
                    <a:pt x="10708386" y="4463796"/>
                    <a:pt x="10686669" y="4485386"/>
                    <a:pt x="10659872" y="4485386"/>
                  </a:cubicBezTo>
                  <a:lnTo>
                    <a:pt x="48514" y="4485386"/>
                  </a:lnTo>
                  <a:cubicBezTo>
                    <a:pt x="21717" y="4485386"/>
                    <a:pt x="0" y="4463796"/>
                    <a:pt x="0" y="4437126"/>
                  </a:cubicBezTo>
                  <a:close/>
                </a:path>
              </a:pathLst>
            </a:custGeom>
            <a:solidFill>
              <a:srgbClr val="FFFFFF"/>
            </a:solidFill>
          </p:spPr>
          <p:txBody>
            <a:bodyPr/>
            <a:lstStyle/>
            <a:p>
              <a:endParaRPr lang="en-IN"/>
            </a:p>
          </p:txBody>
        </p:sp>
        <p:sp>
          <p:nvSpPr>
            <p:cNvPr id="19" name="Freeform 19"/>
            <p:cNvSpPr/>
            <p:nvPr/>
          </p:nvSpPr>
          <p:spPr>
            <a:xfrm>
              <a:off x="0" y="0"/>
              <a:ext cx="10746486" cy="4523486"/>
            </a:xfrm>
            <a:custGeom>
              <a:avLst/>
              <a:gdLst/>
              <a:ahLst/>
              <a:cxnLst/>
              <a:rect l="l" t="t" r="r" b="b"/>
              <a:pathLst>
                <a:path w="10746486" h="4523486">
                  <a:moveTo>
                    <a:pt x="0" y="67310"/>
                  </a:moveTo>
                  <a:cubicBezTo>
                    <a:pt x="0" y="29972"/>
                    <a:pt x="30353" y="0"/>
                    <a:pt x="67564" y="0"/>
                  </a:cubicBezTo>
                  <a:lnTo>
                    <a:pt x="10678922" y="0"/>
                  </a:lnTo>
                  <a:lnTo>
                    <a:pt x="10678922" y="19050"/>
                  </a:lnTo>
                  <a:lnTo>
                    <a:pt x="10678922" y="0"/>
                  </a:lnTo>
                  <a:cubicBezTo>
                    <a:pt x="10716133" y="0"/>
                    <a:pt x="10746486" y="29972"/>
                    <a:pt x="10746486" y="67310"/>
                  </a:cubicBezTo>
                  <a:lnTo>
                    <a:pt x="10727436" y="67310"/>
                  </a:lnTo>
                  <a:lnTo>
                    <a:pt x="10746486" y="67310"/>
                  </a:lnTo>
                  <a:lnTo>
                    <a:pt x="10746486" y="4456176"/>
                  </a:lnTo>
                  <a:lnTo>
                    <a:pt x="10727436" y="4456176"/>
                  </a:lnTo>
                  <a:lnTo>
                    <a:pt x="10746486" y="4456176"/>
                  </a:lnTo>
                  <a:cubicBezTo>
                    <a:pt x="10746486" y="4493387"/>
                    <a:pt x="10716133" y="4523486"/>
                    <a:pt x="10678922" y="4523486"/>
                  </a:cubicBezTo>
                  <a:lnTo>
                    <a:pt x="10678922" y="4504436"/>
                  </a:lnTo>
                  <a:lnTo>
                    <a:pt x="10678922" y="4523486"/>
                  </a:lnTo>
                  <a:lnTo>
                    <a:pt x="67564" y="4523486"/>
                  </a:lnTo>
                  <a:lnTo>
                    <a:pt x="67564" y="4504436"/>
                  </a:lnTo>
                  <a:lnTo>
                    <a:pt x="67564" y="4523486"/>
                  </a:lnTo>
                  <a:cubicBezTo>
                    <a:pt x="30353" y="4523486"/>
                    <a:pt x="0" y="4493514"/>
                    <a:pt x="0" y="4456176"/>
                  </a:cubicBezTo>
                  <a:lnTo>
                    <a:pt x="0" y="67310"/>
                  </a:lnTo>
                  <a:lnTo>
                    <a:pt x="19050" y="67310"/>
                  </a:lnTo>
                  <a:lnTo>
                    <a:pt x="0" y="67310"/>
                  </a:lnTo>
                  <a:moveTo>
                    <a:pt x="38100" y="67310"/>
                  </a:moveTo>
                  <a:lnTo>
                    <a:pt x="38100" y="4456176"/>
                  </a:lnTo>
                  <a:lnTo>
                    <a:pt x="19050" y="4456176"/>
                  </a:lnTo>
                  <a:lnTo>
                    <a:pt x="38100" y="4456176"/>
                  </a:lnTo>
                  <a:cubicBezTo>
                    <a:pt x="38100" y="4472178"/>
                    <a:pt x="51181" y="4485386"/>
                    <a:pt x="67564" y="4485386"/>
                  </a:cubicBezTo>
                  <a:lnTo>
                    <a:pt x="10678922" y="4485386"/>
                  </a:lnTo>
                  <a:cubicBezTo>
                    <a:pt x="10695305" y="4485386"/>
                    <a:pt x="10708386" y="4472178"/>
                    <a:pt x="10708386" y="4456176"/>
                  </a:cubicBezTo>
                  <a:lnTo>
                    <a:pt x="10708386" y="67310"/>
                  </a:lnTo>
                  <a:cubicBezTo>
                    <a:pt x="10708386" y="51308"/>
                    <a:pt x="10695305" y="38100"/>
                    <a:pt x="10678922" y="38100"/>
                  </a:cubicBezTo>
                  <a:lnTo>
                    <a:pt x="67564" y="38100"/>
                  </a:lnTo>
                  <a:lnTo>
                    <a:pt x="67564" y="19050"/>
                  </a:lnTo>
                  <a:lnTo>
                    <a:pt x="67564" y="38100"/>
                  </a:lnTo>
                  <a:cubicBezTo>
                    <a:pt x="51181" y="38100"/>
                    <a:pt x="38100" y="51308"/>
                    <a:pt x="38100" y="67310"/>
                  </a:cubicBezTo>
                  <a:close/>
                </a:path>
              </a:pathLst>
            </a:custGeom>
            <a:solidFill>
              <a:srgbClr val="D8D4D4"/>
            </a:solidFill>
          </p:spPr>
          <p:txBody>
            <a:bodyPr/>
            <a:lstStyle/>
            <a:p>
              <a:endParaRPr lang="en-IN"/>
            </a:p>
          </p:txBody>
        </p:sp>
      </p:grpSp>
      <p:sp>
        <p:nvSpPr>
          <p:cNvPr id="20" name="TextBox 20"/>
          <p:cNvSpPr txBox="1"/>
          <p:nvPr/>
        </p:nvSpPr>
        <p:spPr>
          <a:xfrm>
            <a:off x="1261765" y="5943600"/>
            <a:ext cx="6975128" cy="395585"/>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Implement Data-Driven Content Personalization</a:t>
            </a:r>
          </a:p>
        </p:txBody>
      </p:sp>
      <p:sp>
        <p:nvSpPr>
          <p:cNvPr id="21" name="TextBox 21"/>
          <p:cNvSpPr txBox="1"/>
          <p:nvPr/>
        </p:nvSpPr>
        <p:spPr>
          <a:xfrm>
            <a:off x="1261765" y="6407497"/>
            <a:ext cx="7492156" cy="2003524"/>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Develop tailored content formats and distribution strategies based on gender-specific device and post-type preferences. For example, increase interactive video stories for female users on mobile and optimize static image posts for male desktop users to enhance overall engagement.</a:t>
            </a:r>
          </a:p>
        </p:txBody>
      </p:sp>
      <p:grpSp>
        <p:nvGrpSpPr>
          <p:cNvPr id="22" name="Group 22"/>
          <p:cNvGrpSpPr/>
          <p:nvPr/>
        </p:nvGrpSpPr>
        <p:grpSpPr>
          <a:xfrm>
            <a:off x="9250115" y="5678835"/>
            <a:ext cx="8059936" cy="3392538"/>
            <a:chOff x="0" y="0"/>
            <a:chExt cx="10746582" cy="4523383"/>
          </a:xfrm>
        </p:grpSpPr>
        <p:sp>
          <p:nvSpPr>
            <p:cNvPr id="23" name="Freeform 23"/>
            <p:cNvSpPr/>
            <p:nvPr/>
          </p:nvSpPr>
          <p:spPr>
            <a:xfrm>
              <a:off x="19050" y="19050"/>
              <a:ext cx="10708513" cy="4485386"/>
            </a:xfrm>
            <a:custGeom>
              <a:avLst/>
              <a:gdLst/>
              <a:ahLst/>
              <a:cxnLst/>
              <a:rect l="l" t="t" r="r" b="b"/>
              <a:pathLst>
                <a:path w="10708513" h="4485386">
                  <a:moveTo>
                    <a:pt x="0" y="48260"/>
                  </a:moveTo>
                  <a:cubicBezTo>
                    <a:pt x="0" y="21590"/>
                    <a:pt x="21717" y="0"/>
                    <a:pt x="48514" y="0"/>
                  </a:cubicBezTo>
                  <a:lnTo>
                    <a:pt x="10659999" y="0"/>
                  </a:lnTo>
                  <a:cubicBezTo>
                    <a:pt x="10686796" y="0"/>
                    <a:pt x="10708513" y="21590"/>
                    <a:pt x="10708513" y="48260"/>
                  </a:cubicBezTo>
                  <a:lnTo>
                    <a:pt x="10708513" y="4437126"/>
                  </a:lnTo>
                  <a:cubicBezTo>
                    <a:pt x="10708513" y="4463796"/>
                    <a:pt x="10686796" y="4485386"/>
                    <a:pt x="10659999" y="4485386"/>
                  </a:cubicBezTo>
                  <a:lnTo>
                    <a:pt x="48514" y="4485386"/>
                  </a:lnTo>
                  <a:cubicBezTo>
                    <a:pt x="21717" y="4485386"/>
                    <a:pt x="0" y="4463796"/>
                    <a:pt x="0" y="4437126"/>
                  </a:cubicBezTo>
                  <a:close/>
                </a:path>
              </a:pathLst>
            </a:custGeom>
            <a:solidFill>
              <a:srgbClr val="FFFFFF"/>
            </a:solidFill>
          </p:spPr>
          <p:txBody>
            <a:bodyPr/>
            <a:lstStyle/>
            <a:p>
              <a:endParaRPr lang="en-IN"/>
            </a:p>
          </p:txBody>
        </p:sp>
        <p:sp>
          <p:nvSpPr>
            <p:cNvPr id="24" name="Freeform 24"/>
            <p:cNvSpPr/>
            <p:nvPr/>
          </p:nvSpPr>
          <p:spPr>
            <a:xfrm>
              <a:off x="0" y="0"/>
              <a:ext cx="10746613" cy="4523486"/>
            </a:xfrm>
            <a:custGeom>
              <a:avLst/>
              <a:gdLst/>
              <a:ahLst/>
              <a:cxnLst/>
              <a:rect l="l" t="t" r="r" b="b"/>
              <a:pathLst>
                <a:path w="10746613" h="4523486">
                  <a:moveTo>
                    <a:pt x="0" y="67310"/>
                  </a:moveTo>
                  <a:cubicBezTo>
                    <a:pt x="0" y="29972"/>
                    <a:pt x="30353" y="0"/>
                    <a:pt x="67564" y="0"/>
                  </a:cubicBezTo>
                  <a:lnTo>
                    <a:pt x="10679049" y="0"/>
                  </a:lnTo>
                  <a:lnTo>
                    <a:pt x="10679049" y="19050"/>
                  </a:lnTo>
                  <a:lnTo>
                    <a:pt x="10679049" y="0"/>
                  </a:lnTo>
                  <a:cubicBezTo>
                    <a:pt x="10716260" y="0"/>
                    <a:pt x="10746613" y="29972"/>
                    <a:pt x="10746613" y="67310"/>
                  </a:cubicBezTo>
                  <a:lnTo>
                    <a:pt x="10727563" y="67310"/>
                  </a:lnTo>
                  <a:lnTo>
                    <a:pt x="10746613" y="67310"/>
                  </a:lnTo>
                  <a:lnTo>
                    <a:pt x="10746613" y="4456176"/>
                  </a:lnTo>
                  <a:lnTo>
                    <a:pt x="10727563" y="4456176"/>
                  </a:lnTo>
                  <a:lnTo>
                    <a:pt x="10746613" y="4456176"/>
                  </a:lnTo>
                  <a:cubicBezTo>
                    <a:pt x="10746613" y="4493387"/>
                    <a:pt x="10716260" y="4523486"/>
                    <a:pt x="10679049" y="4523486"/>
                  </a:cubicBezTo>
                  <a:lnTo>
                    <a:pt x="10679049" y="4504436"/>
                  </a:lnTo>
                  <a:lnTo>
                    <a:pt x="10679049" y="4523486"/>
                  </a:lnTo>
                  <a:lnTo>
                    <a:pt x="67564" y="4523486"/>
                  </a:lnTo>
                  <a:lnTo>
                    <a:pt x="67564" y="4504436"/>
                  </a:lnTo>
                  <a:lnTo>
                    <a:pt x="67564" y="4523486"/>
                  </a:lnTo>
                  <a:cubicBezTo>
                    <a:pt x="30353" y="4523486"/>
                    <a:pt x="0" y="4493514"/>
                    <a:pt x="0" y="4456176"/>
                  </a:cubicBezTo>
                  <a:lnTo>
                    <a:pt x="0" y="67310"/>
                  </a:lnTo>
                  <a:lnTo>
                    <a:pt x="19050" y="67310"/>
                  </a:lnTo>
                  <a:lnTo>
                    <a:pt x="0" y="67310"/>
                  </a:lnTo>
                  <a:moveTo>
                    <a:pt x="38100" y="67310"/>
                  </a:moveTo>
                  <a:lnTo>
                    <a:pt x="38100" y="4456176"/>
                  </a:lnTo>
                  <a:lnTo>
                    <a:pt x="19050" y="4456176"/>
                  </a:lnTo>
                  <a:lnTo>
                    <a:pt x="38100" y="4456176"/>
                  </a:lnTo>
                  <a:cubicBezTo>
                    <a:pt x="38100" y="4472178"/>
                    <a:pt x="51181" y="4485386"/>
                    <a:pt x="67564" y="4485386"/>
                  </a:cubicBezTo>
                  <a:lnTo>
                    <a:pt x="10679049" y="4485386"/>
                  </a:lnTo>
                  <a:cubicBezTo>
                    <a:pt x="10695432" y="4485386"/>
                    <a:pt x="10708513" y="4472178"/>
                    <a:pt x="10708513" y="4456176"/>
                  </a:cubicBezTo>
                  <a:lnTo>
                    <a:pt x="10708513" y="67310"/>
                  </a:lnTo>
                  <a:cubicBezTo>
                    <a:pt x="10708513" y="51308"/>
                    <a:pt x="10695432" y="38100"/>
                    <a:pt x="10679049" y="38100"/>
                  </a:cubicBezTo>
                  <a:lnTo>
                    <a:pt x="67564" y="38100"/>
                  </a:lnTo>
                  <a:lnTo>
                    <a:pt x="67564" y="19050"/>
                  </a:lnTo>
                  <a:lnTo>
                    <a:pt x="67564" y="38100"/>
                  </a:lnTo>
                  <a:cubicBezTo>
                    <a:pt x="51181" y="38100"/>
                    <a:pt x="38100" y="51308"/>
                    <a:pt x="38100" y="67310"/>
                  </a:cubicBezTo>
                  <a:close/>
                </a:path>
              </a:pathLst>
            </a:custGeom>
            <a:solidFill>
              <a:srgbClr val="D8D4D4"/>
            </a:solidFill>
          </p:spPr>
          <p:txBody>
            <a:bodyPr/>
            <a:lstStyle/>
            <a:p>
              <a:endParaRPr lang="en-IN"/>
            </a:p>
          </p:txBody>
        </p:sp>
      </p:grpSp>
      <p:sp>
        <p:nvSpPr>
          <p:cNvPr id="25" name="TextBox 25"/>
          <p:cNvSpPr txBox="1"/>
          <p:nvPr/>
        </p:nvSpPr>
        <p:spPr>
          <a:xfrm>
            <a:off x="9533930" y="5943600"/>
            <a:ext cx="7492305" cy="772120"/>
          </a:xfrm>
          <a:prstGeom prst="rect">
            <a:avLst/>
          </a:prstGeom>
        </p:spPr>
        <p:txBody>
          <a:bodyPr lIns="0" tIns="0" rIns="0" bIns="0" rtlCol="0" anchor="t">
            <a:spAutoFit/>
          </a:bodyPr>
          <a:lstStyle/>
          <a:p>
            <a:pPr algn="l">
              <a:lnSpc>
                <a:spcPts val="2937"/>
              </a:lnSpc>
            </a:pPr>
            <a:r>
              <a:rPr lang="en-US" sz="2312" b="1">
                <a:solidFill>
                  <a:srgbClr val="464646"/>
                </a:solidFill>
                <a:latin typeface="DM Sans Bold"/>
                <a:ea typeface="DM Sans Bold"/>
                <a:cs typeface="DM Sans Bold"/>
                <a:sym typeface="DM Sans Bold"/>
              </a:rPr>
              <a:t>Next Steps: Continuous Optimization &amp; Impact Measurement</a:t>
            </a:r>
          </a:p>
        </p:txBody>
      </p:sp>
      <p:sp>
        <p:nvSpPr>
          <p:cNvPr id="26" name="TextBox 26"/>
          <p:cNvSpPr txBox="1"/>
          <p:nvPr/>
        </p:nvSpPr>
        <p:spPr>
          <a:xfrm>
            <a:off x="9533930" y="6784032"/>
            <a:ext cx="7492305" cy="2003524"/>
          </a:xfrm>
          <a:prstGeom prst="rect">
            <a:avLst/>
          </a:prstGeom>
        </p:spPr>
        <p:txBody>
          <a:bodyPr lIns="0" tIns="0" rIns="0" bIns="0" rtlCol="0" anchor="t">
            <a:spAutoFit/>
          </a:bodyPr>
          <a:lstStyle/>
          <a:p>
            <a:pPr algn="l">
              <a:lnSpc>
                <a:spcPts val="3000"/>
              </a:lnSpc>
            </a:pPr>
            <a:r>
              <a:rPr lang="en-US" sz="1874" b="1">
                <a:solidFill>
                  <a:srgbClr val="464646"/>
                </a:solidFill>
                <a:latin typeface="Inter Medium"/>
                <a:ea typeface="Inter Medium"/>
                <a:cs typeface="Inter Medium"/>
                <a:sym typeface="Inter Medium"/>
              </a:rPr>
              <a:t>Establish a framework for ongoing user behavior analysis to continually refine content strategies and influencer collaborations. Regular measurement of key metrics will ensure sustained growth and optimal return on investment for all Instagram initiatives.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1290</Words>
  <Application>Microsoft Office PowerPoint</Application>
  <PresentationFormat>Custom</PresentationFormat>
  <Paragraphs>91</Paragraphs>
  <Slides>8</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Inter Medium</vt:lpstr>
      <vt:lpstr>Calibri</vt:lpstr>
      <vt:lpstr>Canva Sans Bold</vt:lpstr>
      <vt:lpstr>Inter</vt:lpstr>
      <vt:lpstr>Century Gothic Paneuropean Bold Italics</vt:lpstr>
      <vt:lpstr>Arial</vt:lpstr>
      <vt:lpstr>Century Gothic Paneuropean</vt:lpstr>
      <vt:lpstr>Century Gothic Paneuropean Bold</vt:lpstr>
      <vt:lpstr>Inter Bold</vt:lpstr>
      <vt:lpstr>DM Sans Bold</vt:lpstr>
      <vt:lpstr>Archive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Instagram-Data-Analysis-Project.pptx</dc:title>
  <dc:creator>Pratham Singh</dc:creator>
  <cp:lastModifiedBy>Pratham Singh</cp:lastModifiedBy>
  <cp:revision>3</cp:revision>
  <dcterms:created xsi:type="dcterms:W3CDTF">2006-08-16T00:00:00Z</dcterms:created>
  <dcterms:modified xsi:type="dcterms:W3CDTF">2025-11-09T11:56:38Z</dcterms:modified>
  <dc:identifier>DAG4M__5RW8</dc:identifier>
</cp:coreProperties>
</file>